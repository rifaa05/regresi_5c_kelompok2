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Semi-Bold" charset="1" panose="00000700000000000000"/>
      <p:regular r:id="rId22"/>
    </p:embeddedFont>
    <p:embeddedFont>
      <p:font typeface="Poppins Medium" charset="1" panose="00000600000000000000"/>
      <p:regular r:id="rId23"/>
    </p:embeddedFont>
    <p:embeddedFont>
      <p:font typeface="Poppins Light" charset="1" panose="00000400000000000000"/>
      <p:regular r:id="rId24"/>
    </p:embeddedFont>
    <p:embeddedFont>
      <p:font typeface="Poppins" charset="1" panose="00000500000000000000"/>
      <p:regular r:id="rId25"/>
    </p:embeddedFont>
    <p:embeddedFont>
      <p:font typeface="Poppins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7.png" Type="http://schemas.openxmlformats.org/officeDocument/2006/relationships/image"/><Relationship Id="rId5"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8.png" Type="http://schemas.openxmlformats.org/officeDocument/2006/relationships/image"/><Relationship Id="rId5"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538968" y="2503800"/>
            <a:ext cx="11330431" cy="3965575"/>
          </a:xfrm>
          <a:prstGeom prst="rect">
            <a:avLst/>
          </a:prstGeom>
        </p:spPr>
        <p:txBody>
          <a:bodyPr anchor="t" rtlCol="false" tIns="0" lIns="0" bIns="0" rIns="0">
            <a:spAutoFit/>
          </a:bodyPr>
          <a:lstStyle/>
          <a:p>
            <a:pPr algn="l">
              <a:lnSpc>
                <a:spcPts val="7699"/>
              </a:lnSpc>
            </a:pPr>
            <a:r>
              <a:rPr lang="en-US" sz="6999" b="true">
                <a:solidFill>
                  <a:srgbClr val="FFFFFF"/>
                </a:solidFill>
                <a:latin typeface="Poppins Semi-Bold"/>
                <a:ea typeface="Poppins Semi-Bold"/>
                <a:cs typeface="Poppins Semi-Bold"/>
                <a:sym typeface="Poppins Semi-Bold"/>
              </a:rPr>
              <a:t>ANALISIS</a:t>
            </a:r>
            <a:r>
              <a:rPr lang="en-US" sz="6999" b="true">
                <a:solidFill>
                  <a:srgbClr val="FFFFFF"/>
                </a:solidFill>
                <a:latin typeface="Poppins Semi-Bold"/>
                <a:ea typeface="Poppins Semi-Bold"/>
                <a:cs typeface="Poppins Semi-Bold"/>
                <a:sym typeface="Poppins Semi-Bold"/>
              </a:rPr>
              <a:t> HOUSE PRICES MENGGUNAKAN EDA, PREPROCESSING, DAN REGRESI LINEAR</a:t>
            </a:r>
          </a:p>
        </p:txBody>
      </p:sp>
      <p:sp>
        <p:nvSpPr>
          <p:cNvPr name="TextBox 3" id="3"/>
          <p:cNvSpPr txBox="true"/>
          <p:nvPr/>
        </p:nvSpPr>
        <p:spPr>
          <a:xfrm rot="0">
            <a:off x="1538968" y="6922766"/>
            <a:ext cx="11330431" cy="509905"/>
          </a:xfrm>
          <a:prstGeom prst="rect">
            <a:avLst/>
          </a:prstGeom>
        </p:spPr>
        <p:txBody>
          <a:bodyPr anchor="t" rtlCol="false" tIns="0" lIns="0" bIns="0" rIns="0">
            <a:spAutoFit/>
          </a:bodyPr>
          <a:lstStyle/>
          <a:p>
            <a:pPr algn="l">
              <a:lnSpc>
                <a:spcPts val="3919"/>
              </a:lnSpc>
            </a:pPr>
            <a:r>
              <a:rPr lang="en-US" sz="2799" spc="55" b="true">
                <a:solidFill>
                  <a:srgbClr val="FFFFFF"/>
                </a:solidFill>
                <a:latin typeface="Poppins Medium"/>
                <a:ea typeface="Poppins Medium"/>
                <a:cs typeface="Poppins Medium"/>
                <a:sym typeface="Poppins Medium"/>
              </a:rPr>
              <a:t>ADEL ZAMALYA - 2488010059</a:t>
            </a:r>
          </a:p>
        </p:txBody>
      </p:sp>
      <p:sp>
        <p:nvSpPr>
          <p:cNvPr name="Freeform 4" id="4"/>
          <p:cNvSpPr/>
          <p:nvPr/>
        </p:nvSpPr>
        <p:spPr>
          <a:xfrm flipH="false" flipV="false" rot="0">
            <a:off x="13976941" y="1462153"/>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2"/>
            <a:stretch>
              <a:fillRect l="0" t="0" r="0" b="0"/>
            </a:stretch>
          </a:blipFill>
        </p:spPr>
      </p:sp>
      <p:sp>
        <p:nvSpPr>
          <p:cNvPr name="Freeform 5" id="5"/>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2"/>
            <a:stretch>
              <a:fillRect l="0" t="0" r="0" b="0"/>
            </a:stretch>
          </a:blipFill>
        </p:spPr>
      </p:sp>
      <p:sp>
        <p:nvSpPr>
          <p:cNvPr name="Freeform 6" id="6"/>
          <p:cNvSpPr/>
          <p:nvPr/>
        </p:nvSpPr>
        <p:spPr>
          <a:xfrm flipH="false" flipV="false" rot="0">
            <a:off x="16421339" y="2161900"/>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4345018" y="1203219"/>
            <a:ext cx="9596965" cy="981075"/>
          </a:xfrm>
          <a:prstGeom prst="rect">
            <a:avLst/>
          </a:prstGeom>
        </p:spPr>
        <p:txBody>
          <a:bodyPr anchor="t" rtlCol="false" tIns="0" lIns="0" bIns="0" rIns="0">
            <a:spAutoFit/>
          </a:bodyPr>
          <a:lstStyle/>
          <a:p>
            <a:pPr algn="ctr">
              <a:lnSpc>
                <a:spcPts val="7200"/>
              </a:lnSpc>
            </a:pPr>
            <a:r>
              <a:rPr lang="en-US" sz="6000" b="true">
                <a:solidFill>
                  <a:srgbClr val="FFFFFF"/>
                </a:solidFill>
                <a:latin typeface="Poppins Semi-Bold"/>
                <a:ea typeface="Poppins Semi-Bold"/>
                <a:cs typeface="Poppins Semi-Bold"/>
                <a:sym typeface="Poppins Semi-Bold"/>
              </a:rPr>
              <a:t>Informasi Dataset</a:t>
            </a:r>
          </a:p>
        </p:txBody>
      </p:sp>
      <p:sp>
        <p:nvSpPr>
          <p:cNvPr name="AutoShape 3" id="3"/>
          <p:cNvSpPr/>
          <p:nvPr/>
        </p:nvSpPr>
        <p:spPr>
          <a:xfrm rot="0">
            <a:off x="2491559" y="5143500"/>
            <a:ext cx="3708917" cy="1028393"/>
          </a:xfrm>
          <a:prstGeom prst="rect">
            <a:avLst/>
          </a:prstGeom>
          <a:solidFill>
            <a:srgbClr val="10B5BF"/>
          </a:solidFill>
        </p:spPr>
      </p:sp>
      <p:sp>
        <p:nvSpPr>
          <p:cNvPr name="TextBox 4" id="4"/>
          <p:cNvSpPr txBox="true"/>
          <p:nvPr/>
        </p:nvSpPr>
        <p:spPr>
          <a:xfrm rot="0">
            <a:off x="3766155" y="5276020"/>
            <a:ext cx="1173947" cy="658578"/>
          </a:xfrm>
          <a:prstGeom prst="rect">
            <a:avLst/>
          </a:prstGeom>
        </p:spPr>
        <p:txBody>
          <a:bodyPr anchor="t" rtlCol="false" tIns="0" lIns="0" bIns="0" rIns="0">
            <a:spAutoFit/>
          </a:bodyPr>
          <a:lstStyle/>
          <a:p>
            <a:pPr algn="l">
              <a:lnSpc>
                <a:spcPts val="5219"/>
              </a:lnSpc>
            </a:pPr>
            <a:r>
              <a:rPr lang="en-US" sz="3728">
                <a:solidFill>
                  <a:srgbClr val="FFFFFF"/>
                </a:solidFill>
                <a:latin typeface="Poppins Light"/>
                <a:ea typeface="Poppins Light"/>
                <a:cs typeface="Poppins Light"/>
                <a:sym typeface="Poppins Light"/>
              </a:rPr>
              <a:t>1.460</a:t>
            </a:r>
          </a:p>
        </p:txBody>
      </p:sp>
      <p:sp>
        <p:nvSpPr>
          <p:cNvPr name="TextBox 5" id="5"/>
          <p:cNvSpPr txBox="true"/>
          <p:nvPr/>
        </p:nvSpPr>
        <p:spPr>
          <a:xfrm rot="0">
            <a:off x="2584657" y="3027374"/>
            <a:ext cx="13118686" cy="7988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Data</a:t>
            </a:r>
            <a:r>
              <a:rPr lang="en-US" sz="2300">
                <a:solidFill>
                  <a:srgbClr val="FFFFFF"/>
                </a:solidFill>
                <a:latin typeface="Poppins Light"/>
                <a:ea typeface="Poppins Light"/>
                <a:cs typeface="Poppins Light"/>
                <a:sym typeface="Poppins Light"/>
              </a:rPr>
              <a:t>set yang digunakan adalah House Prices, yang berisi informasi mengenai karakteristik rumah dan harga jualnya. </a:t>
            </a:r>
          </a:p>
        </p:txBody>
      </p:sp>
      <p:sp>
        <p:nvSpPr>
          <p:cNvPr name="AutoShape 6" id="6"/>
          <p:cNvSpPr/>
          <p:nvPr/>
        </p:nvSpPr>
        <p:spPr>
          <a:xfrm rot="0">
            <a:off x="7289541" y="5143500"/>
            <a:ext cx="3708917" cy="1028393"/>
          </a:xfrm>
          <a:prstGeom prst="rect">
            <a:avLst/>
          </a:prstGeom>
          <a:solidFill>
            <a:srgbClr val="10B5BF"/>
          </a:solidFill>
        </p:spPr>
      </p:sp>
      <p:sp>
        <p:nvSpPr>
          <p:cNvPr name="TextBox 7" id="7"/>
          <p:cNvSpPr txBox="true"/>
          <p:nvPr/>
        </p:nvSpPr>
        <p:spPr>
          <a:xfrm rot="0">
            <a:off x="8828882" y="5276020"/>
            <a:ext cx="630236" cy="658578"/>
          </a:xfrm>
          <a:prstGeom prst="rect">
            <a:avLst/>
          </a:prstGeom>
        </p:spPr>
        <p:txBody>
          <a:bodyPr anchor="t" rtlCol="false" tIns="0" lIns="0" bIns="0" rIns="0">
            <a:spAutoFit/>
          </a:bodyPr>
          <a:lstStyle/>
          <a:p>
            <a:pPr algn="l">
              <a:lnSpc>
                <a:spcPts val="5219"/>
              </a:lnSpc>
            </a:pPr>
            <a:r>
              <a:rPr lang="en-US" sz="3728">
                <a:solidFill>
                  <a:srgbClr val="FFFFFF"/>
                </a:solidFill>
                <a:latin typeface="Poppins Light"/>
                <a:ea typeface="Poppins Light"/>
                <a:cs typeface="Poppins Light"/>
                <a:sym typeface="Poppins Light"/>
              </a:rPr>
              <a:t>81</a:t>
            </a:r>
          </a:p>
        </p:txBody>
      </p:sp>
      <p:sp>
        <p:nvSpPr>
          <p:cNvPr name="AutoShape 8" id="8"/>
          <p:cNvSpPr/>
          <p:nvPr/>
        </p:nvSpPr>
        <p:spPr>
          <a:xfrm rot="0">
            <a:off x="12087524" y="5143500"/>
            <a:ext cx="3708917" cy="1028393"/>
          </a:xfrm>
          <a:prstGeom prst="rect">
            <a:avLst/>
          </a:prstGeom>
          <a:solidFill>
            <a:srgbClr val="10B5BF"/>
          </a:solidFill>
        </p:spPr>
      </p:sp>
      <p:sp>
        <p:nvSpPr>
          <p:cNvPr name="TextBox 9" id="9"/>
          <p:cNvSpPr txBox="true"/>
          <p:nvPr/>
        </p:nvSpPr>
        <p:spPr>
          <a:xfrm rot="0">
            <a:off x="13941982" y="5276020"/>
            <a:ext cx="434500" cy="658578"/>
          </a:xfrm>
          <a:prstGeom prst="rect">
            <a:avLst/>
          </a:prstGeom>
        </p:spPr>
        <p:txBody>
          <a:bodyPr anchor="t" rtlCol="false" tIns="0" lIns="0" bIns="0" rIns="0">
            <a:spAutoFit/>
          </a:bodyPr>
          <a:lstStyle/>
          <a:p>
            <a:pPr algn="l">
              <a:lnSpc>
                <a:spcPts val="5219"/>
              </a:lnSpc>
            </a:pPr>
            <a:r>
              <a:rPr lang="en-US" sz="3728">
                <a:solidFill>
                  <a:srgbClr val="FFFFFF"/>
                </a:solidFill>
                <a:latin typeface="Poppins Light"/>
                <a:ea typeface="Poppins Light"/>
                <a:cs typeface="Poppins Light"/>
                <a:sym typeface="Poppins Light"/>
              </a:rPr>
              <a:t>0</a:t>
            </a:r>
          </a:p>
        </p:txBody>
      </p:sp>
      <p:sp>
        <p:nvSpPr>
          <p:cNvPr name="TextBox 10" id="10"/>
          <p:cNvSpPr txBox="true"/>
          <p:nvPr/>
        </p:nvSpPr>
        <p:spPr>
          <a:xfrm rot="0">
            <a:off x="3766155" y="6454265"/>
            <a:ext cx="1159726" cy="458471"/>
          </a:xfrm>
          <a:prstGeom prst="rect">
            <a:avLst/>
          </a:prstGeom>
        </p:spPr>
        <p:txBody>
          <a:bodyPr anchor="t" rtlCol="false" tIns="0" lIns="0" bIns="0" rIns="0">
            <a:spAutoFit/>
          </a:bodyPr>
          <a:lstStyle/>
          <a:p>
            <a:pPr algn="ctr">
              <a:lnSpc>
                <a:spcPts val="3604"/>
              </a:lnSpc>
            </a:pPr>
            <a:r>
              <a:rPr lang="en-US" sz="2574">
                <a:solidFill>
                  <a:srgbClr val="FFFFFF"/>
                </a:solidFill>
                <a:latin typeface="Poppins"/>
                <a:ea typeface="Poppins"/>
                <a:cs typeface="Poppins"/>
                <a:sym typeface="Poppins"/>
              </a:rPr>
              <a:t>Baris</a:t>
            </a:r>
          </a:p>
        </p:txBody>
      </p:sp>
      <p:sp>
        <p:nvSpPr>
          <p:cNvPr name="TextBox 11" id="11"/>
          <p:cNvSpPr txBox="true"/>
          <p:nvPr/>
        </p:nvSpPr>
        <p:spPr>
          <a:xfrm rot="0">
            <a:off x="8564137" y="6258367"/>
            <a:ext cx="1159726" cy="458471"/>
          </a:xfrm>
          <a:prstGeom prst="rect">
            <a:avLst/>
          </a:prstGeom>
        </p:spPr>
        <p:txBody>
          <a:bodyPr anchor="t" rtlCol="false" tIns="0" lIns="0" bIns="0" rIns="0">
            <a:spAutoFit/>
          </a:bodyPr>
          <a:lstStyle/>
          <a:p>
            <a:pPr algn="ctr">
              <a:lnSpc>
                <a:spcPts val="3604"/>
              </a:lnSpc>
            </a:pPr>
            <a:r>
              <a:rPr lang="en-US" sz="2574">
                <a:solidFill>
                  <a:srgbClr val="FFFFFF"/>
                </a:solidFill>
                <a:latin typeface="Poppins"/>
                <a:ea typeface="Poppins"/>
                <a:cs typeface="Poppins"/>
                <a:sym typeface="Poppins"/>
              </a:rPr>
              <a:t>Kolom</a:t>
            </a:r>
          </a:p>
        </p:txBody>
      </p:sp>
      <p:sp>
        <p:nvSpPr>
          <p:cNvPr name="TextBox 12" id="12"/>
          <p:cNvSpPr txBox="true"/>
          <p:nvPr/>
        </p:nvSpPr>
        <p:spPr>
          <a:xfrm rot="0">
            <a:off x="13361884" y="6258367"/>
            <a:ext cx="1594695" cy="458471"/>
          </a:xfrm>
          <a:prstGeom prst="rect">
            <a:avLst/>
          </a:prstGeom>
        </p:spPr>
        <p:txBody>
          <a:bodyPr anchor="t" rtlCol="false" tIns="0" lIns="0" bIns="0" rIns="0">
            <a:spAutoFit/>
          </a:bodyPr>
          <a:lstStyle/>
          <a:p>
            <a:pPr algn="ctr">
              <a:lnSpc>
                <a:spcPts val="3604"/>
              </a:lnSpc>
            </a:pPr>
            <a:r>
              <a:rPr lang="en-US" sz="2574">
                <a:solidFill>
                  <a:srgbClr val="FFFFFF"/>
                </a:solidFill>
                <a:latin typeface="Poppins"/>
                <a:ea typeface="Poppins"/>
                <a:cs typeface="Poppins"/>
                <a:sym typeface="Poppins"/>
              </a:rPr>
              <a:t>Duplikat</a:t>
            </a:r>
          </a:p>
        </p:txBody>
      </p:sp>
      <p:sp>
        <p:nvSpPr>
          <p:cNvPr name="TextBox 13" id="13"/>
          <p:cNvSpPr txBox="true"/>
          <p:nvPr/>
        </p:nvSpPr>
        <p:spPr>
          <a:xfrm rot="0">
            <a:off x="1759615" y="7852649"/>
            <a:ext cx="14768770" cy="458471"/>
          </a:xfrm>
          <a:prstGeom prst="rect">
            <a:avLst/>
          </a:prstGeom>
        </p:spPr>
        <p:txBody>
          <a:bodyPr anchor="t" rtlCol="false" tIns="0" lIns="0" bIns="0" rIns="0">
            <a:spAutoFit/>
          </a:bodyPr>
          <a:lstStyle/>
          <a:p>
            <a:pPr algn="ctr">
              <a:lnSpc>
                <a:spcPts val="3604"/>
              </a:lnSpc>
            </a:pPr>
            <a:r>
              <a:rPr lang="en-US" sz="2574">
                <a:solidFill>
                  <a:srgbClr val="FFFFFF"/>
                </a:solidFill>
                <a:latin typeface="Poppins Light"/>
                <a:ea typeface="Poppins Light"/>
                <a:cs typeface="Poppins Light"/>
                <a:sym typeface="Poppins Light"/>
              </a:rPr>
              <a:t>informa</a:t>
            </a:r>
            <a:r>
              <a:rPr lang="en-US" sz="2574">
                <a:solidFill>
                  <a:srgbClr val="FFFFFF"/>
                </a:solidFill>
                <a:latin typeface="Poppins Light"/>
                <a:ea typeface="Poppins Light"/>
                <a:cs typeface="Poppins Light"/>
                <a:sym typeface="Poppins Light"/>
              </a:rPr>
              <a:t>si  yang didapat mencakup kualitas, ukuran, kondisi, fasilitas, hingga lokasi rumah.</a:t>
            </a:r>
          </a:p>
        </p:txBody>
      </p:sp>
      <p:sp>
        <p:nvSpPr>
          <p:cNvPr name="AutoShape 14" id="14"/>
          <p:cNvSpPr/>
          <p:nvPr/>
        </p:nvSpPr>
        <p:spPr>
          <a:xfrm>
            <a:off x="4765134" y="2346219"/>
            <a:ext cx="8757732" cy="0"/>
          </a:xfrm>
          <a:prstGeom prst="line">
            <a:avLst/>
          </a:prstGeom>
          <a:ln cap="rnd" w="19050">
            <a:solidFill>
              <a:srgbClr val="10B5BF"/>
            </a:solidFill>
            <a:prstDash val="solid"/>
            <a:headEnd type="none" len="sm" w="sm"/>
            <a:tailEnd type="none" len="sm" w="sm"/>
          </a:ln>
        </p:spPr>
      </p:sp>
      <p:sp>
        <p:nvSpPr>
          <p:cNvPr name="Freeform 15" id="15"/>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2"/>
            <a:stretch>
              <a:fillRect l="0" t="0" r="0" b="0"/>
            </a:stretch>
          </a:blipFill>
        </p:spPr>
      </p:sp>
      <p:sp>
        <p:nvSpPr>
          <p:cNvPr name="Freeform 16" id="16"/>
          <p:cNvSpPr/>
          <p:nvPr/>
        </p:nvSpPr>
        <p:spPr>
          <a:xfrm flipH="false" flipV="false" rot="0">
            <a:off x="-1062012" y="7919324"/>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9765840" y="2891473"/>
            <a:ext cx="5887373" cy="1198880"/>
          </a:xfrm>
          <a:prstGeom prst="rect">
            <a:avLst/>
          </a:prstGeom>
        </p:spPr>
        <p:txBody>
          <a:bodyPr anchor="t" rtlCol="false" tIns="0" lIns="0" bIns="0" rIns="0">
            <a:spAutoFit/>
          </a:bodyPr>
          <a:lstStyle/>
          <a:p>
            <a:pPr algn="l">
              <a:lnSpc>
                <a:spcPts val="3220"/>
              </a:lnSpc>
            </a:pPr>
            <a:r>
              <a:rPr lang="en-US" sz="2300" b="true">
                <a:solidFill>
                  <a:srgbClr val="FFFFFF"/>
                </a:solidFill>
                <a:latin typeface="Poppins Bold"/>
                <a:ea typeface="Poppins Bold"/>
                <a:cs typeface="Poppins Bold"/>
                <a:sym typeface="Poppins Bold"/>
              </a:rPr>
              <a:t>Harg</a:t>
            </a:r>
            <a:r>
              <a:rPr lang="en-US" sz="2300" b="true">
                <a:solidFill>
                  <a:srgbClr val="FFFFFF"/>
                </a:solidFill>
                <a:latin typeface="Poppins Bold"/>
                <a:ea typeface="Poppins Bold"/>
                <a:cs typeface="Poppins Bold"/>
                <a:sym typeface="Poppins Bold"/>
              </a:rPr>
              <a:t>a dominan</a:t>
            </a:r>
          </a:p>
          <a:p>
            <a:pPr algn="l">
              <a:lnSpc>
                <a:spcPts val="3220"/>
              </a:lnSpc>
            </a:pPr>
            <a:r>
              <a:rPr lang="en-US" sz="2300">
                <a:solidFill>
                  <a:srgbClr val="FFFFFF"/>
                </a:solidFill>
                <a:latin typeface="Poppins Light"/>
                <a:ea typeface="Poppins Light"/>
                <a:cs typeface="Poppins Light"/>
                <a:sym typeface="Poppins Light"/>
              </a:rPr>
              <a:t>Sebagian besar harga rumah berada pada kisaran 100.000–200.000.</a:t>
            </a:r>
          </a:p>
        </p:txBody>
      </p:sp>
      <p:sp>
        <p:nvSpPr>
          <p:cNvPr name="AutoShape 3" id="3"/>
          <p:cNvSpPr/>
          <p:nvPr/>
        </p:nvSpPr>
        <p:spPr>
          <a:xfrm>
            <a:off x="9765840" y="6784816"/>
            <a:ext cx="5887373" cy="0"/>
          </a:xfrm>
          <a:prstGeom prst="line">
            <a:avLst/>
          </a:prstGeom>
          <a:ln cap="rnd" w="19050">
            <a:solidFill>
              <a:srgbClr val="10B5BF"/>
            </a:solidFill>
            <a:prstDash val="solid"/>
            <a:headEnd type="none" len="sm" w="sm"/>
            <a:tailEnd type="none" len="sm" w="sm"/>
          </a:ln>
        </p:spPr>
      </p:sp>
      <p:sp>
        <p:nvSpPr>
          <p:cNvPr name="AutoShape 4" id="4"/>
          <p:cNvSpPr/>
          <p:nvPr/>
        </p:nvSpPr>
        <p:spPr>
          <a:xfrm>
            <a:off x="9765840" y="4428323"/>
            <a:ext cx="5887373" cy="0"/>
          </a:xfrm>
          <a:prstGeom prst="line">
            <a:avLst/>
          </a:prstGeom>
          <a:ln cap="rnd" w="19050">
            <a:solidFill>
              <a:srgbClr val="10B5BF"/>
            </a:solidFill>
            <a:prstDash val="solid"/>
            <a:headEnd type="none" len="sm" w="sm"/>
            <a:tailEnd type="none" len="sm" w="sm"/>
          </a:ln>
        </p:spPr>
      </p:sp>
      <p:sp>
        <p:nvSpPr>
          <p:cNvPr name="AutoShape 5" id="5"/>
          <p:cNvSpPr/>
          <p:nvPr/>
        </p:nvSpPr>
        <p:spPr>
          <a:xfrm>
            <a:off x="9765840" y="9145746"/>
            <a:ext cx="5887373" cy="0"/>
          </a:xfrm>
          <a:prstGeom prst="line">
            <a:avLst/>
          </a:prstGeom>
          <a:ln cap="rnd" w="19050">
            <a:solidFill>
              <a:srgbClr val="10B5BF"/>
            </a:solidFill>
            <a:prstDash val="solid"/>
            <a:headEnd type="none" len="sm" w="sm"/>
            <a:tailEnd type="none" len="sm" w="sm"/>
          </a:ln>
        </p:spPr>
      </p:sp>
      <p:sp>
        <p:nvSpPr>
          <p:cNvPr name="TextBox 6" id="6"/>
          <p:cNvSpPr txBox="true"/>
          <p:nvPr/>
        </p:nvSpPr>
        <p:spPr>
          <a:xfrm rot="0">
            <a:off x="9765840" y="4852511"/>
            <a:ext cx="5887373" cy="1598930"/>
          </a:xfrm>
          <a:prstGeom prst="rect">
            <a:avLst/>
          </a:prstGeom>
        </p:spPr>
        <p:txBody>
          <a:bodyPr anchor="t" rtlCol="false" tIns="0" lIns="0" bIns="0" rIns="0">
            <a:spAutoFit/>
          </a:bodyPr>
          <a:lstStyle/>
          <a:p>
            <a:pPr algn="l">
              <a:lnSpc>
                <a:spcPts val="3220"/>
              </a:lnSpc>
            </a:pPr>
            <a:r>
              <a:rPr lang="en-US" sz="2300" b="true">
                <a:solidFill>
                  <a:srgbClr val="FFFFFF"/>
                </a:solidFill>
                <a:latin typeface="Poppins Bold"/>
                <a:ea typeface="Poppins Bold"/>
                <a:cs typeface="Poppins Bold"/>
                <a:sym typeface="Poppins Bold"/>
              </a:rPr>
              <a:t>Distribusi h</a:t>
            </a:r>
            <a:r>
              <a:rPr lang="en-US" sz="2300" b="true">
                <a:solidFill>
                  <a:srgbClr val="FFFFFF"/>
                </a:solidFill>
                <a:latin typeface="Poppins Bold"/>
                <a:ea typeface="Poppins Bold"/>
                <a:cs typeface="Poppins Bold"/>
                <a:sym typeface="Poppins Bold"/>
              </a:rPr>
              <a:t>arga</a:t>
            </a:r>
          </a:p>
          <a:p>
            <a:pPr algn="l">
              <a:lnSpc>
                <a:spcPts val="3220"/>
              </a:lnSpc>
            </a:pPr>
            <a:r>
              <a:rPr lang="en-US" sz="2300">
                <a:solidFill>
                  <a:srgbClr val="FFFFFF"/>
                </a:solidFill>
                <a:latin typeface="Poppins Light"/>
                <a:ea typeface="Poppins Light"/>
                <a:cs typeface="Poppins Light"/>
                <a:sym typeface="Poppins Light"/>
              </a:rPr>
              <a:t>Distribusi harga cenderung miring ke kanan, dengan beberapa rumah memiliki harga yang jauh lebih tinggi.</a:t>
            </a:r>
          </a:p>
        </p:txBody>
      </p:sp>
      <p:sp>
        <p:nvSpPr>
          <p:cNvPr name="Freeform 7" id="7"/>
          <p:cNvSpPr/>
          <p:nvPr/>
        </p:nvSpPr>
        <p:spPr>
          <a:xfrm flipH="false" flipV="false" rot="0">
            <a:off x="1624591" y="3452599"/>
            <a:ext cx="6892226" cy="4455905"/>
          </a:xfrm>
          <a:custGeom>
            <a:avLst/>
            <a:gdLst/>
            <a:ahLst/>
            <a:cxnLst/>
            <a:rect r="r" b="b" t="t" l="l"/>
            <a:pathLst>
              <a:path h="4455905" w="6892226">
                <a:moveTo>
                  <a:pt x="0" y="0"/>
                </a:moveTo>
                <a:lnTo>
                  <a:pt x="6892226" y="0"/>
                </a:lnTo>
                <a:lnTo>
                  <a:pt x="6892226" y="4455905"/>
                </a:lnTo>
                <a:lnTo>
                  <a:pt x="0" y="4455905"/>
                </a:lnTo>
                <a:lnTo>
                  <a:pt x="0" y="0"/>
                </a:lnTo>
                <a:close/>
              </a:path>
            </a:pathLst>
          </a:custGeom>
          <a:blipFill>
            <a:blip r:embed="rId2"/>
            <a:stretch>
              <a:fillRect l="0" t="0" r="0" b="0"/>
            </a:stretch>
          </a:blipFill>
        </p:spPr>
      </p:sp>
      <p:sp>
        <p:nvSpPr>
          <p:cNvPr name="TextBox 8" id="8"/>
          <p:cNvSpPr txBox="true"/>
          <p:nvPr/>
        </p:nvSpPr>
        <p:spPr>
          <a:xfrm rot="0">
            <a:off x="3522872" y="962025"/>
            <a:ext cx="11242257"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EDA : </a:t>
            </a:r>
            <a:r>
              <a:rPr lang="en-US" sz="6000">
                <a:solidFill>
                  <a:srgbClr val="FFFFFF"/>
                </a:solidFill>
                <a:latin typeface="Poppins"/>
                <a:ea typeface="Poppins"/>
                <a:cs typeface="Poppins"/>
                <a:sym typeface="Poppins"/>
              </a:rPr>
              <a:t>Di</a:t>
            </a:r>
            <a:r>
              <a:rPr lang="en-US" sz="6000">
                <a:solidFill>
                  <a:srgbClr val="FFFFFF"/>
                </a:solidFill>
                <a:latin typeface="Poppins"/>
                <a:ea typeface="Poppins"/>
                <a:cs typeface="Poppins"/>
                <a:sym typeface="Poppins"/>
              </a:rPr>
              <a:t>stribusi Harga Rumah</a:t>
            </a:r>
          </a:p>
        </p:txBody>
      </p:sp>
      <p:sp>
        <p:nvSpPr>
          <p:cNvPr name="TextBox 9" id="9"/>
          <p:cNvSpPr txBox="true"/>
          <p:nvPr/>
        </p:nvSpPr>
        <p:spPr>
          <a:xfrm rot="0">
            <a:off x="9765840" y="7213441"/>
            <a:ext cx="5887373" cy="1598930"/>
          </a:xfrm>
          <a:prstGeom prst="rect">
            <a:avLst/>
          </a:prstGeom>
        </p:spPr>
        <p:txBody>
          <a:bodyPr anchor="t" rtlCol="false" tIns="0" lIns="0" bIns="0" rIns="0">
            <a:spAutoFit/>
          </a:bodyPr>
          <a:lstStyle/>
          <a:p>
            <a:pPr algn="l">
              <a:lnSpc>
                <a:spcPts val="3220"/>
              </a:lnSpc>
            </a:pPr>
            <a:r>
              <a:rPr lang="en-US" sz="2300" b="true">
                <a:solidFill>
                  <a:srgbClr val="FFFFFF"/>
                </a:solidFill>
                <a:latin typeface="Poppins Bold"/>
                <a:ea typeface="Poppins Bold"/>
                <a:cs typeface="Poppins Bold"/>
                <a:sym typeface="Poppins Bold"/>
              </a:rPr>
              <a:t>Ren</a:t>
            </a:r>
            <a:r>
              <a:rPr lang="en-US" sz="2300" b="true">
                <a:solidFill>
                  <a:srgbClr val="FFFFFF"/>
                </a:solidFill>
                <a:latin typeface="Poppins Bold"/>
                <a:ea typeface="Poppins Bold"/>
                <a:cs typeface="Poppins Bold"/>
                <a:sym typeface="Poppins Bold"/>
              </a:rPr>
              <a:t>tang harga</a:t>
            </a:r>
          </a:p>
          <a:p>
            <a:pPr algn="l">
              <a:lnSpc>
                <a:spcPts val="3220"/>
              </a:lnSpc>
            </a:pPr>
            <a:r>
              <a:rPr lang="en-US" sz="2300">
                <a:solidFill>
                  <a:srgbClr val="FFFFFF"/>
                </a:solidFill>
                <a:latin typeface="Poppins Light"/>
                <a:ea typeface="Poppins Light"/>
                <a:cs typeface="Poppins Light"/>
                <a:sym typeface="Poppins Light"/>
              </a:rPr>
              <a:t>Harga rumah memiliki rentang yang cukup luas, yaitu sekitar 34.900 hingga 755.000.</a:t>
            </a:r>
          </a:p>
        </p:txBody>
      </p:sp>
      <p:sp>
        <p:nvSpPr>
          <p:cNvPr name="Freeform 10" id="10"/>
          <p:cNvSpPr/>
          <p:nvPr/>
        </p:nvSpPr>
        <p:spPr>
          <a:xfrm flipH="false" flipV="false" rot="0">
            <a:off x="-954669" y="-6632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3"/>
            <a:stretch>
              <a:fillRect l="0" t="0" r="0" b="0"/>
            </a:stretch>
          </a:blipFill>
        </p:spPr>
      </p:sp>
      <p:sp>
        <p:nvSpPr>
          <p:cNvPr name="Freeform 11" id="11"/>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2"/>
            <a:stretch>
              <a:fillRect l="0" t="0" r="0" b="0"/>
            </a:stretch>
          </a:blipFill>
        </p:spPr>
      </p:sp>
      <p:sp>
        <p:nvSpPr>
          <p:cNvPr name="Freeform 3" id="3"/>
          <p:cNvSpPr/>
          <p:nvPr/>
        </p:nvSpPr>
        <p:spPr>
          <a:xfrm flipH="false" flipV="false" rot="0">
            <a:off x="10369547" y="3878212"/>
            <a:ext cx="6889753" cy="5887978"/>
          </a:xfrm>
          <a:custGeom>
            <a:avLst/>
            <a:gdLst/>
            <a:ahLst/>
            <a:cxnLst/>
            <a:rect r="r" b="b" t="t" l="l"/>
            <a:pathLst>
              <a:path h="5887978" w="6889753">
                <a:moveTo>
                  <a:pt x="0" y="0"/>
                </a:moveTo>
                <a:lnTo>
                  <a:pt x="6889753" y="0"/>
                </a:lnTo>
                <a:lnTo>
                  <a:pt x="6889753" y="5887978"/>
                </a:lnTo>
                <a:lnTo>
                  <a:pt x="0" y="5887978"/>
                </a:lnTo>
                <a:lnTo>
                  <a:pt x="0" y="0"/>
                </a:lnTo>
                <a:close/>
              </a:path>
            </a:pathLst>
          </a:custGeom>
          <a:blipFill>
            <a:blip r:embed="rId3"/>
            <a:stretch>
              <a:fillRect l="0" t="0" r="0" b="0"/>
            </a:stretch>
          </a:blipFill>
        </p:spPr>
      </p:sp>
      <p:sp>
        <p:nvSpPr>
          <p:cNvPr name="Freeform 4" id="4"/>
          <p:cNvSpPr/>
          <p:nvPr/>
        </p:nvSpPr>
        <p:spPr>
          <a:xfrm flipH="false" flipV="false" rot="0">
            <a:off x="2158614" y="4235856"/>
            <a:ext cx="1536630" cy="507088"/>
          </a:xfrm>
          <a:custGeom>
            <a:avLst/>
            <a:gdLst/>
            <a:ahLst/>
            <a:cxnLst/>
            <a:rect r="r" b="b" t="t" l="l"/>
            <a:pathLst>
              <a:path h="507088" w="1536630">
                <a:moveTo>
                  <a:pt x="0" y="0"/>
                </a:moveTo>
                <a:lnTo>
                  <a:pt x="1536630" y="0"/>
                </a:lnTo>
                <a:lnTo>
                  <a:pt x="1536630" y="507087"/>
                </a:lnTo>
                <a:lnTo>
                  <a:pt x="0" y="5070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706391"/>
            <a:ext cx="14714776"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ED</a:t>
            </a:r>
            <a:r>
              <a:rPr lang="en-US" sz="6000" b="true">
                <a:solidFill>
                  <a:srgbClr val="FFFFFF"/>
                </a:solidFill>
                <a:latin typeface="Poppins Semi-Bold"/>
                <a:ea typeface="Poppins Semi-Bold"/>
                <a:cs typeface="Poppins Semi-Bold"/>
                <a:sym typeface="Poppins Semi-Bold"/>
              </a:rPr>
              <a:t>A : </a:t>
            </a:r>
          </a:p>
        </p:txBody>
      </p:sp>
      <p:sp>
        <p:nvSpPr>
          <p:cNvPr name="TextBox 6" id="6"/>
          <p:cNvSpPr txBox="true"/>
          <p:nvPr/>
        </p:nvSpPr>
        <p:spPr>
          <a:xfrm rot="0">
            <a:off x="4005012" y="3861385"/>
            <a:ext cx="5438967" cy="1198880"/>
          </a:xfrm>
          <a:prstGeom prst="rect">
            <a:avLst/>
          </a:prstGeom>
        </p:spPr>
        <p:txBody>
          <a:bodyPr anchor="t" rtlCol="false" tIns="0" lIns="0" bIns="0" rIns="0">
            <a:spAutoFit/>
          </a:bodyPr>
          <a:lstStyle/>
          <a:p>
            <a:pPr algn="l">
              <a:lnSpc>
                <a:spcPts val="3220"/>
              </a:lnSpc>
            </a:pPr>
            <a:r>
              <a:rPr lang="en-US" sz="2300">
                <a:solidFill>
                  <a:srgbClr val="FFFFFF"/>
                </a:solidFill>
                <a:latin typeface="Poppins Light"/>
                <a:ea typeface="Poppins Light"/>
                <a:cs typeface="Poppins Light"/>
                <a:sym typeface="Poppins Light"/>
              </a:rPr>
              <a:t>M</a:t>
            </a:r>
            <a:r>
              <a:rPr lang="en-US" sz="2300">
                <a:solidFill>
                  <a:srgbClr val="FFFFFF"/>
                </a:solidFill>
                <a:latin typeface="Poppins Light"/>
                <a:ea typeface="Poppins Light"/>
                <a:cs typeface="Poppins Light"/>
                <a:sym typeface="Poppins Light"/>
              </a:rPr>
              <a:t>emiliki hubungan paling kuat dengan SalePrice, dengan korelasi 0,79.</a:t>
            </a:r>
          </a:p>
        </p:txBody>
      </p:sp>
      <p:sp>
        <p:nvSpPr>
          <p:cNvPr name="TextBox 7" id="7"/>
          <p:cNvSpPr txBox="true"/>
          <p:nvPr/>
        </p:nvSpPr>
        <p:spPr>
          <a:xfrm rot="0">
            <a:off x="1028700" y="3615639"/>
            <a:ext cx="2259828" cy="458471"/>
          </a:xfrm>
          <a:prstGeom prst="rect">
            <a:avLst/>
          </a:prstGeom>
        </p:spPr>
        <p:txBody>
          <a:bodyPr anchor="t" rtlCol="false" tIns="0" lIns="0" bIns="0" rIns="0">
            <a:spAutoFit/>
          </a:bodyPr>
          <a:lstStyle/>
          <a:p>
            <a:pPr algn="ctr">
              <a:lnSpc>
                <a:spcPts val="3604"/>
              </a:lnSpc>
              <a:spcBef>
                <a:spcPct val="0"/>
              </a:spcBef>
            </a:pPr>
            <a:r>
              <a:rPr lang="en-US" sz="2574">
                <a:solidFill>
                  <a:srgbClr val="FFFFFF"/>
                </a:solidFill>
                <a:latin typeface="Poppins Light"/>
                <a:ea typeface="Poppins Light"/>
                <a:cs typeface="Poppins Light"/>
                <a:sym typeface="Poppins Light"/>
              </a:rPr>
              <a:t>OverallQual</a:t>
            </a:r>
          </a:p>
        </p:txBody>
      </p:sp>
      <p:sp>
        <p:nvSpPr>
          <p:cNvPr name="TextBox 8" id="8"/>
          <p:cNvSpPr txBox="true"/>
          <p:nvPr/>
        </p:nvSpPr>
        <p:spPr>
          <a:xfrm rot="0">
            <a:off x="1028700" y="5468834"/>
            <a:ext cx="2259828" cy="458471"/>
          </a:xfrm>
          <a:prstGeom prst="rect">
            <a:avLst/>
          </a:prstGeom>
        </p:spPr>
        <p:txBody>
          <a:bodyPr anchor="t" rtlCol="false" tIns="0" lIns="0" bIns="0" rIns="0">
            <a:spAutoFit/>
          </a:bodyPr>
          <a:lstStyle/>
          <a:p>
            <a:pPr algn="ctr">
              <a:lnSpc>
                <a:spcPts val="3604"/>
              </a:lnSpc>
              <a:spcBef>
                <a:spcPct val="0"/>
              </a:spcBef>
            </a:pPr>
            <a:r>
              <a:rPr lang="en-US" sz="2574">
                <a:solidFill>
                  <a:srgbClr val="FFFFFF"/>
                </a:solidFill>
                <a:latin typeface="Poppins Light"/>
                <a:ea typeface="Poppins Light"/>
                <a:cs typeface="Poppins Light"/>
                <a:sym typeface="Poppins Light"/>
              </a:rPr>
              <a:t>Luas </a:t>
            </a:r>
            <a:r>
              <a:rPr lang="en-US" sz="2574">
                <a:solidFill>
                  <a:srgbClr val="FFFFFF"/>
                </a:solidFill>
                <a:latin typeface="Poppins Light"/>
                <a:ea typeface="Poppins Light"/>
                <a:cs typeface="Poppins Light"/>
                <a:sym typeface="Poppins Light"/>
              </a:rPr>
              <a:t>rumah</a:t>
            </a:r>
          </a:p>
        </p:txBody>
      </p:sp>
      <p:sp>
        <p:nvSpPr>
          <p:cNvPr name="TextBox 9" id="9"/>
          <p:cNvSpPr txBox="true"/>
          <p:nvPr/>
        </p:nvSpPr>
        <p:spPr>
          <a:xfrm rot="0">
            <a:off x="4005012" y="5938417"/>
            <a:ext cx="5438967" cy="1198880"/>
          </a:xfrm>
          <a:prstGeom prst="rect">
            <a:avLst/>
          </a:prstGeom>
        </p:spPr>
        <p:txBody>
          <a:bodyPr anchor="t" rtlCol="false" tIns="0" lIns="0" bIns="0" rIns="0">
            <a:spAutoFit/>
          </a:bodyPr>
          <a:lstStyle/>
          <a:p>
            <a:pPr algn="l">
              <a:lnSpc>
                <a:spcPts val="3220"/>
              </a:lnSpc>
            </a:pPr>
            <a:r>
              <a:rPr lang="en-US" sz="2300">
                <a:solidFill>
                  <a:srgbClr val="FFFFFF"/>
                </a:solidFill>
                <a:latin typeface="Poppins Light"/>
                <a:ea typeface="Poppins Light"/>
                <a:cs typeface="Poppins Light"/>
                <a:sym typeface="Poppins Light"/>
              </a:rPr>
              <a:t>GrLivAr</a:t>
            </a:r>
            <a:r>
              <a:rPr lang="en-US" sz="2300">
                <a:solidFill>
                  <a:srgbClr val="FFFFFF"/>
                </a:solidFill>
                <a:latin typeface="Poppins Light"/>
                <a:ea typeface="Poppins Light"/>
                <a:cs typeface="Poppins Light"/>
                <a:sym typeface="Poppins Light"/>
              </a:rPr>
              <a:t>ea juga menunjukkan hubungan yang kuat dengan harga, dengan korelasi 0,71.</a:t>
            </a:r>
          </a:p>
        </p:txBody>
      </p:sp>
      <p:sp>
        <p:nvSpPr>
          <p:cNvPr name="Freeform 10" id="10"/>
          <p:cNvSpPr/>
          <p:nvPr/>
        </p:nvSpPr>
        <p:spPr>
          <a:xfrm flipH="false" flipV="false" rot="0">
            <a:off x="2158614" y="6119215"/>
            <a:ext cx="1536630" cy="507088"/>
          </a:xfrm>
          <a:custGeom>
            <a:avLst/>
            <a:gdLst/>
            <a:ahLst/>
            <a:cxnLst/>
            <a:rect r="r" b="b" t="t" l="l"/>
            <a:pathLst>
              <a:path h="507088" w="1536630">
                <a:moveTo>
                  <a:pt x="0" y="0"/>
                </a:moveTo>
                <a:lnTo>
                  <a:pt x="1536630" y="0"/>
                </a:lnTo>
                <a:lnTo>
                  <a:pt x="1536630" y="507088"/>
                </a:lnTo>
                <a:lnTo>
                  <a:pt x="0" y="507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005012" y="7813572"/>
            <a:ext cx="5438967" cy="1998980"/>
          </a:xfrm>
          <a:prstGeom prst="rect">
            <a:avLst/>
          </a:prstGeom>
        </p:spPr>
        <p:txBody>
          <a:bodyPr anchor="t" rtlCol="false" tIns="0" lIns="0" bIns="0" rIns="0">
            <a:spAutoFit/>
          </a:bodyPr>
          <a:lstStyle/>
          <a:p>
            <a:pPr algn="l">
              <a:lnSpc>
                <a:spcPts val="3220"/>
              </a:lnSpc>
            </a:pPr>
            <a:r>
              <a:rPr lang="en-US" sz="2300">
                <a:solidFill>
                  <a:srgbClr val="FFFFFF"/>
                </a:solidFill>
                <a:latin typeface="Poppins Light"/>
                <a:ea typeface="Poppins Light"/>
                <a:cs typeface="Poppins Light"/>
                <a:sym typeface="Poppins Light"/>
              </a:rPr>
              <a:t>GarageCars, GarageAr</a:t>
            </a:r>
            <a:r>
              <a:rPr lang="en-US" sz="2300">
                <a:solidFill>
                  <a:srgbClr val="FFFFFF"/>
                </a:solidFill>
                <a:latin typeface="Poppins Light"/>
                <a:ea typeface="Poppins Light"/>
                <a:cs typeface="Poppins Light"/>
                <a:sym typeface="Poppins Light"/>
              </a:rPr>
              <a:t>ea, dan TotalBsmtSF juga berkaitan positif dengan SalePrice. Artinya, semakin besar nilainya, harga rumah cenderung semakin tinggi.</a:t>
            </a:r>
          </a:p>
        </p:txBody>
      </p:sp>
      <p:sp>
        <p:nvSpPr>
          <p:cNvPr name="TextBox 12" id="12"/>
          <p:cNvSpPr txBox="true"/>
          <p:nvPr/>
        </p:nvSpPr>
        <p:spPr>
          <a:xfrm rot="0">
            <a:off x="1178291" y="7608149"/>
            <a:ext cx="2516953" cy="458471"/>
          </a:xfrm>
          <a:prstGeom prst="rect">
            <a:avLst/>
          </a:prstGeom>
        </p:spPr>
        <p:txBody>
          <a:bodyPr anchor="t" rtlCol="false" tIns="0" lIns="0" bIns="0" rIns="0">
            <a:spAutoFit/>
          </a:bodyPr>
          <a:lstStyle/>
          <a:p>
            <a:pPr algn="ctr">
              <a:lnSpc>
                <a:spcPts val="3604"/>
              </a:lnSpc>
              <a:spcBef>
                <a:spcPct val="0"/>
              </a:spcBef>
            </a:pPr>
            <a:r>
              <a:rPr lang="en-US" sz="2574">
                <a:solidFill>
                  <a:srgbClr val="FFFFFF"/>
                </a:solidFill>
                <a:latin typeface="Poppins Light"/>
                <a:ea typeface="Poppins Light"/>
                <a:cs typeface="Poppins Light"/>
                <a:sym typeface="Poppins Light"/>
              </a:rPr>
              <a:t>Fasilitas </a:t>
            </a:r>
            <a:r>
              <a:rPr lang="en-US" sz="2574">
                <a:solidFill>
                  <a:srgbClr val="FFFFFF"/>
                </a:solidFill>
                <a:latin typeface="Poppins Light"/>
                <a:ea typeface="Poppins Light"/>
                <a:cs typeface="Poppins Light"/>
                <a:sym typeface="Poppins Light"/>
              </a:rPr>
              <a:t>rumah</a:t>
            </a:r>
          </a:p>
        </p:txBody>
      </p:sp>
      <p:sp>
        <p:nvSpPr>
          <p:cNvPr name="Freeform 13" id="13"/>
          <p:cNvSpPr/>
          <p:nvPr/>
        </p:nvSpPr>
        <p:spPr>
          <a:xfrm flipH="false" flipV="false" rot="0">
            <a:off x="2158614" y="8370649"/>
            <a:ext cx="1536630" cy="507088"/>
          </a:xfrm>
          <a:custGeom>
            <a:avLst/>
            <a:gdLst/>
            <a:ahLst/>
            <a:cxnLst/>
            <a:rect r="r" b="b" t="t" l="l"/>
            <a:pathLst>
              <a:path h="507088" w="1536630">
                <a:moveTo>
                  <a:pt x="0" y="0"/>
                </a:moveTo>
                <a:lnTo>
                  <a:pt x="1536630" y="0"/>
                </a:lnTo>
                <a:lnTo>
                  <a:pt x="1536630" y="507088"/>
                </a:lnTo>
                <a:lnTo>
                  <a:pt x="0" y="507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028700" y="1643964"/>
            <a:ext cx="14714776" cy="981075"/>
          </a:xfrm>
          <a:prstGeom prst="rect">
            <a:avLst/>
          </a:prstGeom>
        </p:spPr>
        <p:txBody>
          <a:bodyPr anchor="t" rtlCol="false" tIns="0" lIns="0" bIns="0" rIns="0">
            <a:spAutoFit/>
          </a:bodyPr>
          <a:lstStyle/>
          <a:p>
            <a:pPr algn="l">
              <a:lnSpc>
                <a:spcPts val="7200"/>
              </a:lnSpc>
            </a:pPr>
            <a:r>
              <a:rPr lang="en-US" sz="6000">
                <a:solidFill>
                  <a:srgbClr val="FFFFFF"/>
                </a:solidFill>
                <a:latin typeface="Poppins"/>
                <a:ea typeface="Poppins"/>
                <a:cs typeface="Poppins"/>
                <a:sym typeface="Poppins"/>
              </a:rPr>
              <a:t>Fitur Yang Berkaitan Dengan</a:t>
            </a:r>
            <a:r>
              <a:rPr lang="en-US" sz="6000">
                <a:solidFill>
                  <a:srgbClr val="FFFFFF"/>
                </a:solidFill>
                <a:latin typeface="Poppins"/>
                <a:ea typeface="Poppins"/>
                <a:cs typeface="Poppins"/>
                <a:sym typeface="Poppins"/>
              </a:rPr>
              <a:t> Harga</a:t>
            </a:r>
          </a:p>
        </p:txBody>
      </p:sp>
      <p:sp>
        <p:nvSpPr>
          <p:cNvPr name="AutoShape 15" id="15"/>
          <p:cNvSpPr/>
          <p:nvPr/>
        </p:nvSpPr>
        <p:spPr>
          <a:xfrm>
            <a:off x="1028700" y="2882214"/>
            <a:ext cx="13401630" cy="0"/>
          </a:xfrm>
          <a:prstGeom prst="line">
            <a:avLst/>
          </a:prstGeom>
          <a:ln cap="rnd" w="19050">
            <a:solidFill>
              <a:srgbClr val="10B5BF"/>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true" flipV="false" rot="0">
            <a:off x="-1356377" y="6593350"/>
            <a:ext cx="4024687" cy="4528480"/>
          </a:xfrm>
          <a:custGeom>
            <a:avLst/>
            <a:gdLst/>
            <a:ahLst/>
            <a:cxnLst/>
            <a:rect r="r" b="b" t="t" l="l"/>
            <a:pathLst>
              <a:path h="4528480" w="4024687">
                <a:moveTo>
                  <a:pt x="4024687" y="0"/>
                </a:moveTo>
                <a:lnTo>
                  <a:pt x="0" y="0"/>
                </a:lnTo>
                <a:lnTo>
                  <a:pt x="0" y="4528480"/>
                </a:lnTo>
                <a:lnTo>
                  <a:pt x="4024687" y="4528480"/>
                </a:lnTo>
                <a:lnTo>
                  <a:pt x="4024687" y="0"/>
                </a:lnTo>
                <a:close/>
              </a:path>
            </a:pathLst>
          </a:custGeom>
          <a:blipFill>
            <a:blip r:embed="rId2"/>
            <a:stretch>
              <a:fillRect l="0" t="0" r="0" b="0"/>
            </a:stretch>
          </a:blipFill>
        </p:spPr>
      </p:sp>
      <p:sp>
        <p:nvSpPr>
          <p:cNvPr name="TextBox 3" id="3"/>
          <p:cNvSpPr txBox="true"/>
          <p:nvPr/>
        </p:nvSpPr>
        <p:spPr>
          <a:xfrm rot="0">
            <a:off x="1028700" y="692570"/>
            <a:ext cx="9192034"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E</a:t>
            </a:r>
            <a:r>
              <a:rPr lang="en-US" sz="6000" b="true">
                <a:solidFill>
                  <a:srgbClr val="FFFFFF"/>
                </a:solidFill>
                <a:latin typeface="Poppins Semi-Bold"/>
                <a:ea typeface="Poppins Semi-Bold"/>
                <a:cs typeface="Poppins Semi-Bold"/>
                <a:sym typeface="Poppins Semi-Bold"/>
              </a:rPr>
              <a:t>DA : </a:t>
            </a:r>
            <a:r>
              <a:rPr lang="en-US" sz="6000">
                <a:solidFill>
                  <a:srgbClr val="FFFFFF"/>
                </a:solidFill>
                <a:latin typeface="Poppins"/>
                <a:ea typeface="Poppins"/>
                <a:cs typeface="Poppins"/>
                <a:sym typeface="Poppins"/>
              </a:rPr>
              <a:t>Missing Value</a:t>
            </a:r>
          </a:p>
        </p:txBody>
      </p:sp>
      <p:sp>
        <p:nvSpPr>
          <p:cNvPr name="TextBox 4" id="4"/>
          <p:cNvSpPr txBox="true"/>
          <p:nvPr/>
        </p:nvSpPr>
        <p:spPr>
          <a:xfrm rot="0">
            <a:off x="3697079" y="7051205"/>
            <a:ext cx="13562221" cy="1598930"/>
          </a:xfrm>
          <a:prstGeom prst="rect">
            <a:avLst/>
          </a:prstGeom>
        </p:spPr>
        <p:txBody>
          <a:bodyPr anchor="t" rtlCol="false" tIns="0" lIns="0" bIns="0" rIns="0">
            <a:spAutoFit/>
          </a:bodyPr>
          <a:lstStyle/>
          <a:p>
            <a:pPr algn="just">
              <a:lnSpc>
                <a:spcPts val="3220"/>
              </a:lnSpc>
            </a:pPr>
            <a:r>
              <a:rPr lang="en-US" sz="2300">
                <a:solidFill>
                  <a:srgbClr val="FFFFFF"/>
                </a:solidFill>
                <a:latin typeface="Poppins Light"/>
                <a:ea typeface="Poppins Light"/>
                <a:cs typeface="Poppins Light"/>
                <a:sym typeface="Poppins Light"/>
              </a:rPr>
              <a:t>Setelah melihat fitur-fitur yang memiliki hubungan dengan SalePrice, dilakukan pengecekan terhadap kelengkapan data. Hasilnya, masih terdapat beberapa nilai kosong pada sejumlah fitur, seperti PoolQC, MiscFeature, Alley, dan Fence. Hal ini perlu ditangani terlebih dahulu karena data yang masih kosong dapat mengganggu proses pemodelan.</a:t>
            </a:r>
          </a:p>
        </p:txBody>
      </p:sp>
      <p:sp>
        <p:nvSpPr>
          <p:cNvPr name="AutoShape 5" id="5"/>
          <p:cNvSpPr/>
          <p:nvPr/>
        </p:nvSpPr>
        <p:spPr>
          <a:xfrm>
            <a:off x="1028700" y="1997495"/>
            <a:ext cx="8757732" cy="0"/>
          </a:xfrm>
          <a:prstGeom prst="line">
            <a:avLst/>
          </a:prstGeom>
          <a:ln cap="rnd" w="19050">
            <a:solidFill>
              <a:srgbClr val="10B5BF"/>
            </a:solidFill>
            <a:prstDash val="solid"/>
            <a:headEnd type="none" len="sm" w="sm"/>
            <a:tailEnd type="none" len="sm" w="sm"/>
          </a:ln>
        </p:spPr>
      </p:sp>
      <p:sp>
        <p:nvSpPr>
          <p:cNvPr name="Freeform 6" id="6"/>
          <p:cNvSpPr/>
          <p:nvPr/>
        </p:nvSpPr>
        <p:spPr>
          <a:xfrm flipH="false" flipV="false" rot="0">
            <a:off x="5548626" y="2522024"/>
            <a:ext cx="7190747" cy="4071325"/>
          </a:xfrm>
          <a:custGeom>
            <a:avLst/>
            <a:gdLst/>
            <a:ahLst/>
            <a:cxnLst/>
            <a:rect r="r" b="b" t="t" l="l"/>
            <a:pathLst>
              <a:path h="4071325" w="7190747">
                <a:moveTo>
                  <a:pt x="0" y="0"/>
                </a:moveTo>
                <a:lnTo>
                  <a:pt x="7190748" y="0"/>
                </a:lnTo>
                <a:lnTo>
                  <a:pt x="7190748" y="4071326"/>
                </a:lnTo>
                <a:lnTo>
                  <a:pt x="0" y="4071326"/>
                </a:lnTo>
                <a:lnTo>
                  <a:pt x="0" y="0"/>
                </a:lnTo>
                <a:close/>
              </a:path>
            </a:pathLst>
          </a:custGeom>
          <a:blipFill>
            <a:blip r:embed="rId3"/>
            <a:stretch>
              <a:fillRect l="0" t="0" r="-670" b="-2597"/>
            </a:stretch>
          </a:blipFill>
        </p:spPr>
      </p:sp>
      <p:sp>
        <p:nvSpPr>
          <p:cNvPr name="TextBox 7" id="7"/>
          <p:cNvSpPr txBox="true"/>
          <p:nvPr/>
        </p:nvSpPr>
        <p:spPr>
          <a:xfrm rot="0">
            <a:off x="3697079" y="8907310"/>
            <a:ext cx="13562221" cy="798830"/>
          </a:xfrm>
          <a:prstGeom prst="rect">
            <a:avLst/>
          </a:prstGeom>
        </p:spPr>
        <p:txBody>
          <a:bodyPr anchor="t" rtlCol="false" tIns="0" lIns="0" bIns="0" rIns="0">
            <a:spAutoFit/>
          </a:bodyPr>
          <a:lstStyle/>
          <a:p>
            <a:pPr algn="just">
              <a:lnSpc>
                <a:spcPts val="3220"/>
              </a:lnSpc>
            </a:pPr>
            <a:r>
              <a:rPr lang="en-US" sz="2300">
                <a:solidFill>
                  <a:srgbClr val="FFFFFF"/>
                </a:solidFill>
                <a:latin typeface="Poppins Light"/>
                <a:ea typeface="Poppins Light"/>
                <a:cs typeface="Poppins Light"/>
                <a:sym typeface="Poppins Light"/>
              </a:rPr>
              <a:t>Karena itu, missing value akan diproses pada tahap preprocessing agar data siap digunakan untuk regresi.</a:t>
            </a:r>
          </a:p>
        </p:txBody>
      </p:sp>
      <p:sp>
        <p:nvSpPr>
          <p:cNvPr name="Freeform 8" id="8"/>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4"/>
            <a:stretch>
              <a:fillRect l="0" t="0" r="0" b="0"/>
            </a:stretch>
          </a:blipFill>
        </p:spPr>
      </p:sp>
      <p:sp>
        <p:nvSpPr>
          <p:cNvPr name="Freeform 9" id="9"/>
          <p:cNvSpPr/>
          <p:nvPr/>
        </p:nvSpPr>
        <p:spPr>
          <a:xfrm flipH="false" flipV="false" rot="0">
            <a:off x="16646820" y="2251113"/>
            <a:ext cx="3282359" cy="3383875"/>
          </a:xfrm>
          <a:custGeom>
            <a:avLst/>
            <a:gdLst/>
            <a:ahLst/>
            <a:cxnLst/>
            <a:rect r="r" b="b" t="t" l="l"/>
            <a:pathLst>
              <a:path h="3383875" w="3282359">
                <a:moveTo>
                  <a:pt x="0" y="0"/>
                </a:moveTo>
                <a:lnTo>
                  <a:pt x="3282360" y="0"/>
                </a:lnTo>
                <a:lnTo>
                  <a:pt x="3282360" y="3383875"/>
                </a:lnTo>
                <a:lnTo>
                  <a:pt x="0" y="3383875"/>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1382668" y="3331269"/>
            <a:ext cx="5338205" cy="3002741"/>
          </a:xfrm>
          <a:custGeom>
            <a:avLst/>
            <a:gdLst/>
            <a:ahLst/>
            <a:cxnLst/>
            <a:rect r="r" b="b" t="t" l="l"/>
            <a:pathLst>
              <a:path h="3002741" w="5338205">
                <a:moveTo>
                  <a:pt x="0" y="0"/>
                </a:moveTo>
                <a:lnTo>
                  <a:pt x="5338206" y="0"/>
                </a:lnTo>
                <a:lnTo>
                  <a:pt x="5338206" y="3002741"/>
                </a:lnTo>
                <a:lnTo>
                  <a:pt x="0" y="3002741"/>
                </a:lnTo>
                <a:lnTo>
                  <a:pt x="0" y="0"/>
                </a:lnTo>
                <a:close/>
              </a:path>
            </a:pathLst>
          </a:custGeom>
          <a:blipFill>
            <a:blip r:embed="rId2"/>
            <a:stretch>
              <a:fillRect l="0" t="0" r="0" b="0"/>
            </a:stretch>
          </a:blipFill>
        </p:spPr>
      </p:sp>
      <p:sp>
        <p:nvSpPr>
          <p:cNvPr name="Freeform 3" id="3"/>
          <p:cNvSpPr/>
          <p:nvPr/>
        </p:nvSpPr>
        <p:spPr>
          <a:xfrm flipH="false" flipV="false" rot="0">
            <a:off x="1028700" y="7121636"/>
            <a:ext cx="8642778" cy="2445722"/>
          </a:xfrm>
          <a:custGeom>
            <a:avLst/>
            <a:gdLst/>
            <a:ahLst/>
            <a:cxnLst/>
            <a:rect r="r" b="b" t="t" l="l"/>
            <a:pathLst>
              <a:path h="2445722" w="8642778">
                <a:moveTo>
                  <a:pt x="0" y="0"/>
                </a:moveTo>
                <a:lnTo>
                  <a:pt x="8642778" y="0"/>
                </a:lnTo>
                <a:lnTo>
                  <a:pt x="8642778" y="2445723"/>
                </a:lnTo>
                <a:lnTo>
                  <a:pt x="0" y="2445723"/>
                </a:lnTo>
                <a:lnTo>
                  <a:pt x="0" y="0"/>
                </a:lnTo>
                <a:close/>
              </a:path>
            </a:pathLst>
          </a:custGeom>
          <a:blipFill>
            <a:blip r:embed="rId3"/>
            <a:stretch>
              <a:fillRect l="0" t="0" r="0" b="0"/>
            </a:stretch>
          </a:blipFill>
        </p:spPr>
      </p:sp>
      <p:sp>
        <p:nvSpPr>
          <p:cNvPr name="TextBox 4" id="4"/>
          <p:cNvSpPr txBox="true"/>
          <p:nvPr/>
        </p:nvSpPr>
        <p:spPr>
          <a:xfrm rot="0">
            <a:off x="1028700" y="557716"/>
            <a:ext cx="16230600"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Prepr</a:t>
            </a:r>
            <a:r>
              <a:rPr lang="en-US" sz="6000" b="true">
                <a:solidFill>
                  <a:srgbClr val="FFFFFF"/>
                </a:solidFill>
                <a:latin typeface="Poppins Semi-Bold"/>
                <a:ea typeface="Poppins Semi-Bold"/>
                <a:cs typeface="Poppins Semi-Bold"/>
                <a:sym typeface="Poppins Semi-Bold"/>
              </a:rPr>
              <a:t>ocessing :</a:t>
            </a:r>
          </a:p>
        </p:txBody>
      </p:sp>
      <p:sp>
        <p:nvSpPr>
          <p:cNvPr name="TextBox 5" id="5"/>
          <p:cNvSpPr txBox="true"/>
          <p:nvPr/>
        </p:nvSpPr>
        <p:spPr>
          <a:xfrm rot="0">
            <a:off x="1028700" y="1681507"/>
            <a:ext cx="16230600" cy="981075"/>
          </a:xfrm>
          <a:prstGeom prst="rect">
            <a:avLst/>
          </a:prstGeom>
        </p:spPr>
        <p:txBody>
          <a:bodyPr anchor="t" rtlCol="false" tIns="0" lIns="0" bIns="0" rIns="0">
            <a:spAutoFit/>
          </a:bodyPr>
          <a:lstStyle/>
          <a:p>
            <a:pPr algn="l">
              <a:lnSpc>
                <a:spcPts val="7200"/>
              </a:lnSpc>
            </a:pPr>
            <a:r>
              <a:rPr lang="en-US" sz="6000">
                <a:solidFill>
                  <a:srgbClr val="FFFFFF"/>
                </a:solidFill>
                <a:latin typeface="Poppins"/>
                <a:ea typeface="Poppins"/>
                <a:cs typeface="Poppins"/>
                <a:sym typeface="Poppins"/>
              </a:rPr>
              <a:t>Pemisahan Feature &amp; Targ</a:t>
            </a:r>
            <a:r>
              <a:rPr lang="en-US" sz="6000">
                <a:solidFill>
                  <a:srgbClr val="FFFFFF"/>
                </a:solidFill>
                <a:latin typeface="Poppins"/>
                <a:ea typeface="Poppins"/>
                <a:cs typeface="Poppins"/>
                <a:sym typeface="Poppins"/>
              </a:rPr>
              <a:t>et</a:t>
            </a:r>
          </a:p>
        </p:txBody>
      </p:sp>
      <p:sp>
        <p:nvSpPr>
          <p:cNvPr name="TextBox 6" id="6"/>
          <p:cNvSpPr txBox="true"/>
          <p:nvPr/>
        </p:nvSpPr>
        <p:spPr>
          <a:xfrm rot="0">
            <a:off x="1028700" y="3474144"/>
            <a:ext cx="9536264" cy="1198880"/>
          </a:xfrm>
          <a:prstGeom prst="rect">
            <a:avLst/>
          </a:prstGeom>
        </p:spPr>
        <p:txBody>
          <a:bodyPr anchor="t" rtlCol="false" tIns="0" lIns="0" bIns="0" rIns="0">
            <a:spAutoFit/>
          </a:bodyPr>
          <a:lstStyle/>
          <a:p>
            <a:pPr algn="l">
              <a:lnSpc>
                <a:spcPts val="3220"/>
              </a:lnSpc>
            </a:pPr>
            <a:r>
              <a:rPr lang="en-US" sz="2300">
                <a:solidFill>
                  <a:srgbClr val="FFFFFF"/>
                </a:solidFill>
                <a:latin typeface="Poppins Light"/>
                <a:ea typeface="Poppins Light"/>
                <a:cs typeface="Poppins Light"/>
                <a:sym typeface="Poppins Light"/>
              </a:rPr>
              <a:t>Setelah tahap EDA, data mulai dipersiapkan untuk pemodelan dengan memisahkan variabel yang digunakan sebagai prediktor dan variabel yang ingin diprediksi.</a:t>
            </a:r>
          </a:p>
        </p:txBody>
      </p:sp>
      <p:sp>
        <p:nvSpPr>
          <p:cNvPr name="TextBox 7" id="7"/>
          <p:cNvSpPr txBox="true"/>
          <p:nvPr/>
        </p:nvSpPr>
        <p:spPr>
          <a:xfrm rot="0">
            <a:off x="1028700" y="4943438"/>
            <a:ext cx="3766372" cy="1198880"/>
          </a:xfrm>
          <a:prstGeom prst="rect">
            <a:avLst/>
          </a:prstGeom>
        </p:spPr>
        <p:txBody>
          <a:bodyPr anchor="t" rtlCol="false" tIns="0" lIns="0" bIns="0" rIns="0">
            <a:spAutoFit/>
          </a:bodyPr>
          <a:lstStyle/>
          <a:p>
            <a:pPr algn="l">
              <a:lnSpc>
                <a:spcPts val="3220"/>
              </a:lnSpc>
            </a:pPr>
            <a:r>
              <a:rPr lang="en-US" sz="2300">
                <a:solidFill>
                  <a:srgbClr val="10B5BF"/>
                </a:solidFill>
                <a:latin typeface="Poppins Light"/>
                <a:ea typeface="Poppins Light"/>
                <a:cs typeface="Poppins Light"/>
                <a:sym typeface="Poppins Light"/>
              </a:rPr>
              <a:t>Feature (X)</a:t>
            </a:r>
          </a:p>
          <a:p>
            <a:pPr algn="l">
              <a:lnSpc>
                <a:spcPts val="3220"/>
              </a:lnSpc>
            </a:pPr>
            <a:r>
              <a:rPr lang="en-US" sz="2300">
                <a:solidFill>
                  <a:srgbClr val="FFFFFF"/>
                </a:solidFill>
                <a:latin typeface="Poppins Light"/>
                <a:ea typeface="Poppins Light"/>
                <a:cs typeface="Poppins Light"/>
                <a:sym typeface="Poppins Light"/>
              </a:rPr>
              <a:t>80 kolom sebagai karakteristik rumah </a:t>
            </a:r>
          </a:p>
        </p:txBody>
      </p:sp>
      <p:sp>
        <p:nvSpPr>
          <p:cNvPr name="TextBox 8" id="8"/>
          <p:cNvSpPr txBox="true"/>
          <p:nvPr/>
        </p:nvSpPr>
        <p:spPr>
          <a:xfrm rot="0">
            <a:off x="5377628" y="4943438"/>
            <a:ext cx="4235972" cy="1198880"/>
          </a:xfrm>
          <a:prstGeom prst="rect">
            <a:avLst/>
          </a:prstGeom>
        </p:spPr>
        <p:txBody>
          <a:bodyPr anchor="t" rtlCol="false" tIns="0" lIns="0" bIns="0" rIns="0">
            <a:spAutoFit/>
          </a:bodyPr>
          <a:lstStyle/>
          <a:p>
            <a:pPr algn="l">
              <a:lnSpc>
                <a:spcPts val="3220"/>
              </a:lnSpc>
            </a:pPr>
            <a:r>
              <a:rPr lang="en-US" sz="2300">
                <a:solidFill>
                  <a:srgbClr val="10B5BF"/>
                </a:solidFill>
                <a:latin typeface="Poppins Light"/>
                <a:ea typeface="Poppins Light"/>
                <a:cs typeface="Poppins Light"/>
                <a:sym typeface="Poppins Light"/>
              </a:rPr>
              <a:t>Target (y)</a:t>
            </a:r>
          </a:p>
          <a:p>
            <a:pPr algn="l">
              <a:lnSpc>
                <a:spcPts val="3220"/>
              </a:lnSpc>
            </a:pPr>
            <a:r>
              <a:rPr lang="en-US" sz="2300">
                <a:solidFill>
                  <a:srgbClr val="FFFFFF"/>
                </a:solidFill>
                <a:latin typeface="Poppins Light"/>
                <a:ea typeface="Poppins Light"/>
                <a:cs typeface="Poppins Light"/>
                <a:sym typeface="Poppins Light"/>
              </a:rPr>
              <a:t>Sa</a:t>
            </a:r>
            <a:r>
              <a:rPr lang="en-US" sz="2300">
                <a:solidFill>
                  <a:srgbClr val="FFFFFF"/>
                </a:solidFill>
                <a:latin typeface="Poppins Light"/>
                <a:ea typeface="Poppins Light"/>
                <a:cs typeface="Poppins Light"/>
                <a:sym typeface="Poppins Light"/>
              </a:rPr>
              <a:t>lePrice sebagai harga rumah yang akan diprediksi.</a:t>
            </a:r>
          </a:p>
        </p:txBody>
      </p:sp>
      <p:sp>
        <p:nvSpPr>
          <p:cNvPr name="TextBox 9" id="9"/>
          <p:cNvSpPr txBox="true"/>
          <p:nvPr/>
        </p:nvSpPr>
        <p:spPr>
          <a:xfrm rot="0">
            <a:off x="11382668" y="7516458"/>
            <a:ext cx="5467578" cy="1598930"/>
          </a:xfrm>
          <a:prstGeom prst="rect">
            <a:avLst/>
          </a:prstGeom>
        </p:spPr>
        <p:txBody>
          <a:bodyPr anchor="t" rtlCol="false" tIns="0" lIns="0" bIns="0" rIns="0">
            <a:spAutoFit/>
          </a:bodyPr>
          <a:lstStyle/>
          <a:p>
            <a:pPr algn="l">
              <a:lnSpc>
                <a:spcPts val="3220"/>
              </a:lnSpc>
            </a:pPr>
            <a:r>
              <a:rPr lang="en-US" sz="2300">
                <a:solidFill>
                  <a:srgbClr val="10B5BF"/>
                </a:solidFill>
                <a:latin typeface="Poppins"/>
                <a:ea typeface="Poppins"/>
                <a:cs typeface="Poppins"/>
                <a:sym typeface="Poppins"/>
              </a:rPr>
              <a:t>Pembersihan - Penghapusan id</a:t>
            </a:r>
          </a:p>
          <a:p>
            <a:pPr algn="l">
              <a:lnSpc>
                <a:spcPts val="3220"/>
              </a:lnSpc>
            </a:pPr>
            <a:r>
              <a:rPr lang="en-US" sz="2300">
                <a:solidFill>
                  <a:srgbClr val="FFFFFF"/>
                </a:solidFill>
                <a:latin typeface="Poppins Light"/>
                <a:ea typeface="Poppins Light"/>
                <a:cs typeface="Poppins Light"/>
                <a:sym typeface="Poppins Light"/>
              </a:rPr>
              <a:t>Karena id hanya digunakan sebagai identitas rumah, bukan sebagai informasi untuk memprediksi harga.</a:t>
            </a:r>
          </a:p>
        </p:txBody>
      </p:sp>
      <p:sp>
        <p:nvSpPr>
          <p:cNvPr name="AutoShape 10" id="10"/>
          <p:cNvSpPr/>
          <p:nvPr/>
        </p:nvSpPr>
        <p:spPr>
          <a:xfrm>
            <a:off x="1028700" y="6775511"/>
            <a:ext cx="15692174" cy="0"/>
          </a:xfrm>
          <a:prstGeom prst="line">
            <a:avLst/>
          </a:prstGeom>
          <a:ln cap="rnd" w="19050">
            <a:solidFill>
              <a:srgbClr val="10B5BF"/>
            </a:solidFill>
            <a:prstDash val="solid"/>
            <a:headEnd type="none" len="sm" w="sm"/>
            <a:tailEnd type="none" len="sm" w="sm"/>
          </a:ln>
        </p:spPr>
      </p:sp>
      <p:sp>
        <p:nvSpPr>
          <p:cNvPr name="AutoShape 11" id="11"/>
          <p:cNvSpPr/>
          <p:nvPr/>
        </p:nvSpPr>
        <p:spPr>
          <a:xfrm>
            <a:off x="1028700" y="2893119"/>
            <a:ext cx="10881510" cy="0"/>
          </a:xfrm>
          <a:prstGeom prst="line">
            <a:avLst/>
          </a:prstGeom>
          <a:ln cap="rnd" w="19050">
            <a:solidFill>
              <a:srgbClr val="10B5BF"/>
            </a:solidFill>
            <a:prstDash val="solid"/>
            <a:headEnd type="none" len="sm" w="sm"/>
            <a:tailEnd type="none" len="sm" w="sm"/>
          </a:ln>
        </p:spPr>
      </p:sp>
      <p:sp>
        <p:nvSpPr>
          <p:cNvPr name="Freeform 12" id="12"/>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4"/>
            <a:stretch>
              <a:fillRect l="0" t="0" r="0" b="0"/>
            </a:stretch>
          </a:blipFill>
        </p:spPr>
      </p:sp>
      <p:sp>
        <p:nvSpPr>
          <p:cNvPr name="Freeform 13" id="13"/>
          <p:cNvSpPr/>
          <p:nvPr/>
        </p:nvSpPr>
        <p:spPr>
          <a:xfrm flipH="false" flipV="false" rot="0">
            <a:off x="12699960" y="-2064318"/>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H="true" flipV="true">
            <a:off x="7844368" y="1028700"/>
            <a:ext cx="0" cy="8229600"/>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8815983" y="4621762"/>
            <a:ext cx="7927209" cy="4001962"/>
          </a:xfrm>
          <a:custGeom>
            <a:avLst/>
            <a:gdLst/>
            <a:ahLst/>
            <a:cxnLst/>
            <a:rect r="r" b="b" t="t" l="l"/>
            <a:pathLst>
              <a:path h="4001962" w="7927209">
                <a:moveTo>
                  <a:pt x="0" y="0"/>
                </a:moveTo>
                <a:lnTo>
                  <a:pt x="7927210" y="0"/>
                </a:lnTo>
                <a:lnTo>
                  <a:pt x="7927210" y="4001963"/>
                </a:lnTo>
                <a:lnTo>
                  <a:pt x="0" y="4001963"/>
                </a:lnTo>
                <a:lnTo>
                  <a:pt x="0" y="0"/>
                </a:lnTo>
                <a:close/>
              </a:path>
            </a:pathLst>
          </a:custGeom>
          <a:blipFill>
            <a:blip r:embed="rId2"/>
            <a:stretch>
              <a:fillRect l="0" t="0" r="0" b="0"/>
            </a:stretch>
          </a:blipFill>
        </p:spPr>
      </p:sp>
      <p:sp>
        <p:nvSpPr>
          <p:cNvPr name="TextBox 4" id="4"/>
          <p:cNvSpPr txBox="true"/>
          <p:nvPr/>
        </p:nvSpPr>
        <p:spPr>
          <a:xfrm rot="0">
            <a:off x="1028700" y="3248025"/>
            <a:ext cx="6341801" cy="3724275"/>
          </a:xfrm>
          <a:prstGeom prst="rect">
            <a:avLst/>
          </a:prstGeom>
        </p:spPr>
        <p:txBody>
          <a:bodyPr anchor="t" rtlCol="false" tIns="0" lIns="0" bIns="0" rIns="0">
            <a:spAutoFit/>
          </a:bodyPr>
          <a:lstStyle/>
          <a:p>
            <a:pPr algn="ctr">
              <a:lnSpc>
                <a:spcPts val="7200"/>
              </a:lnSpc>
            </a:pPr>
            <a:r>
              <a:rPr lang="en-US" b="true" sz="6000">
                <a:solidFill>
                  <a:srgbClr val="FFFFFF"/>
                </a:solidFill>
                <a:latin typeface="Poppins Semi-Bold"/>
                <a:ea typeface="Poppins Semi-Bold"/>
                <a:cs typeface="Poppins Semi-Bold"/>
                <a:sym typeface="Poppins Semi-Bold"/>
              </a:rPr>
              <a:t>Prepr</a:t>
            </a:r>
            <a:r>
              <a:rPr lang="en-US" b="true" sz="6000">
                <a:solidFill>
                  <a:srgbClr val="FFFFFF"/>
                </a:solidFill>
                <a:latin typeface="Poppins Semi-Bold"/>
                <a:ea typeface="Poppins Semi-Bold"/>
                <a:cs typeface="Poppins Semi-Bold"/>
                <a:sym typeface="Poppins Semi-Bold"/>
              </a:rPr>
              <a:t>ocessing : </a:t>
            </a:r>
          </a:p>
          <a:p>
            <a:pPr algn="ctr">
              <a:lnSpc>
                <a:spcPts val="7200"/>
              </a:lnSpc>
            </a:pPr>
            <a:r>
              <a:rPr lang="en-US" sz="6000">
                <a:solidFill>
                  <a:srgbClr val="FFFFFF"/>
                </a:solidFill>
                <a:latin typeface="Poppins"/>
                <a:ea typeface="Poppins"/>
                <a:cs typeface="Poppins"/>
                <a:sym typeface="Poppins"/>
              </a:rPr>
              <a:t>Identiifkasi </a:t>
            </a:r>
          </a:p>
          <a:p>
            <a:pPr algn="ctr">
              <a:lnSpc>
                <a:spcPts val="7200"/>
              </a:lnSpc>
            </a:pPr>
            <a:r>
              <a:rPr lang="en-US" sz="6000">
                <a:solidFill>
                  <a:srgbClr val="FFFFFF"/>
                </a:solidFill>
                <a:latin typeface="Poppins"/>
                <a:ea typeface="Poppins"/>
                <a:cs typeface="Poppins"/>
                <a:sym typeface="Poppins"/>
              </a:rPr>
              <a:t>Jenis </a:t>
            </a:r>
          </a:p>
          <a:p>
            <a:pPr algn="ctr">
              <a:lnSpc>
                <a:spcPts val="7200"/>
              </a:lnSpc>
            </a:pPr>
            <a:r>
              <a:rPr lang="en-US" sz="6000">
                <a:solidFill>
                  <a:srgbClr val="FFFFFF"/>
                </a:solidFill>
                <a:latin typeface="Poppins"/>
                <a:ea typeface="Poppins"/>
                <a:cs typeface="Poppins"/>
                <a:sym typeface="Poppins"/>
              </a:rPr>
              <a:t>Data</a:t>
            </a:r>
          </a:p>
        </p:txBody>
      </p:sp>
      <p:sp>
        <p:nvSpPr>
          <p:cNvPr name="TextBox 5" id="5"/>
          <p:cNvSpPr txBox="true"/>
          <p:nvPr/>
        </p:nvSpPr>
        <p:spPr>
          <a:xfrm rot="0">
            <a:off x="8590723" y="1299482"/>
            <a:ext cx="8377730" cy="23990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Setelah feature dan target dipisahkan, data kemudian dikelompokkan menjadi fitur numerik dan kategorikal. Pengelompokan ini dilakukan agar setiap jenis data dapat diproses sesuai dengan karakteristiknya pada tahap preprocessing.</a:t>
            </a:r>
          </a:p>
          <a:p>
            <a:pPr algn="ctr">
              <a:lnSpc>
                <a:spcPts val="3220"/>
              </a:lnSpc>
            </a:pPr>
          </a:p>
        </p:txBody>
      </p:sp>
      <p:sp>
        <p:nvSpPr>
          <p:cNvPr name="Freeform 6" id="6"/>
          <p:cNvSpPr/>
          <p:nvPr/>
        </p:nvSpPr>
        <p:spPr>
          <a:xfrm flipH="false" flipV="false" rot="0">
            <a:off x="-612480" y="-1108927"/>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3"/>
            <a:stretch>
              <a:fillRect l="0" t="0" r="0" b="0"/>
            </a:stretch>
          </a:blipFill>
        </p:spPr>
      </p:sp>
      <p:sp>
        <p:nvSpPr>
          <p:cNvPr name="Freeform 7" id="7"/>
          <p:cNvSpPr/>
          <p:nvPr/>
        </p:nvSpPr>
        <p:spPr>
          <a:xfrm flipH="false" flipV="false" rot="0">
            <a:off x="2669880" y="-16919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H="true" flipV="true">
            <a:off x="10161965" y="1028700"/>
            <a:ext cx="0" cy="8229600"/>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2424885" y="3246755"/>
            <a:ext cx="5585359" cy="5326435"/>
          </a:xfrm>
          <a:custGeom>
            <a:avLst/>
            <a:gdLst/>
            <a:ahLst/>
            <a:cxnLst/>
            <a:rect r="r" b="b" t="t" l="l"/>
            <a:pathLst>
              <a:path h="5326435" w="5585359">
                <a:moveTo>
                  <a:pt x="0" y="0"/>
                </a:moveTo>
                <a:lnTo>
                  <a:pt x="5585360" y="0"/>
                </a:lnTo>
                <a:lnTo>
                  <a:pt x="5585360" y="5326435"/>
                </a:lnTo>
                <a:lnTo>
                  <a:pt x="0" y="5326435"/>
                </a:lnTo>
                <a:lnTo>
                  <a:pt x="0" y="0"/>
                </a:lnTo>
                <a:close/>
              </a:path>
            </a:pathLst>
          </a:custGeom>
          <a:blipFill>
            <a:blip r:embed="rId2"/>
            <a:stretch>
              <a:fillRect l="0" t="0" r="0" b="0"/>
            </a:stretch>
          </a:blipFill>
        </p:spPr>
      </p:sp>
      <p:sp>
        <p:nvSpPr>
          <p:cNvPr name="TextBox 4" id="4"/>
          <p:cNvSpPr txBox="true"/>
          <p:nvPr/>
        </p:nvSpPr>
        <p:spPr>
          <a:xfrm rot="0">
            <a:off x="10917499" y="3248025"/>
            <a:ext cx="6341801" cy="3724275"/>
          </a:xfrm>
          <a:prstGeom prst="rect">
            <a:avLst/>
          </a:prstGeom>
        </p:spPr>
        <p:txBody>
          <a:bodyPr anchor="t" rtlCol="false" tIns="0" lIns="0" bIns="0" rIns="0">
            <a:spAutoFit/>
          </a:bodyPr>
          <a:lstStyle/>
          <a:p>
            <a:pPr algn="ctr">
              <a:lnSpc>
                <a:spcPts val="7200"/>
              </a:lnSpc>
            </a:pPr>
            <a:r>
              <a:rPr lang="en-US" b="true" sz="6000">
                <a:solidFill>
                  <a:srgbClr val="FFFFFF"/>
                </a:solidFill>
                <a:latin typeface="Poppins Semi-Bold"/>
                <a:ea typeface="Poppins Semi-Bold"/>
                <a:cs typeface="Poppins Semi-Bold"/>
                <a:sym typeface="Poppins Semi-Bold"/>
              </a:rPr>
              <a:t>Prepr</a:t>
            </a:r>
            <a:r>
              <a:rPr lang="en-US" b="true" sz="6000">
                <a:solidFill>
                  <a:srgbClr val="FFFFFF"/>
                </a:solidFill>
                <a:latin typeface="Poppins Semi-Bold"/>
                <a:ea typeface="Poppins Semi-Bold"/>
                <a:cs typeface="Poppins Semi-Bold"/>
                <a:sym typeface="Poppins Semi-Bold"/>
              </a:rPr>
              <a:t>ocessing : </a:t>
            </a:r>
          </a:p>
          <a:p>
            <a:pPr algn="ctr">
              <a:lnSpc>
                <a:spcPts val="7200"/>
              </a:lnSpc>
            </a:pPr>
            <a:r>
              <a:rPr lang="en-US" sz="6000">
                <a:solidFill>
                  <a:srgbClr val="FFFFFF"/>
                </a:solidFill>
                <a:latin typeface="Poppins"/>
                <a:ea typeface="Poppins"/>
                <a:cs typeface="Poppins"/>
                <a:sym typeface="Poppins"/>
              </a:rPr>
              <a:t>Penanganan</a:t>
            </a:r>
          </a:p>
          <a:p>
            <a:pPr algn="ctr">
              <a:lnSpc>
                <a:spcPts val="7200"/>
              </a:lnSpc>
            </a:pPr>
            <a:r>
              <a:rPr lang="en-US" sz="6000">
                <a:solidFill>
                  <a:srgbClr val="FFFFFF"/>
                </a:solidFill>
                <a:latin typeface="Poppins"/>
                <a:ea typeface="Poppins"/>
                <a:cs typeface="Poppins"/>
                <a:sym typeface="Poppins"/>
              </a:rPr>
              <a:t>Missing</a:t>
            </a:r>
          </a:p>
          <a:p>
            <a:pPr algn="ctr">
              <a:lnSpc>
                <a:spcPts val="7200"/>
              </a:lnSpc>
            </a:pPr>
            <a:r>
              <a:rPr lang="en-US" sz="6000">
                <a:solidFill>
                  <a:srgbClr val="FFFFFF"/>
                </a:solidFill>
                <a:latin typeface="Poppins"/>
                <a:ea typeface="Poppins"/>
                <a:cs typeface="Poppins"/>
                <a:sym typeface="Poppins"/>
              </a:rPr>
              <a:t>Value</a:t>
            </a:r>
          </a:p>
        </p:txBody>
      </p:sp>
      <p:sp>
        <p:nvSpPr>
          <p:cNvPr name="TextBox 5" id="5"/>
          <p:cNvSpPr txBox="true"/>
          <p:nvPr/>
        </p:nvSpPr>
        <p:spPr>
          <a:xfrm rot="0">
            <a:off x="1028700" y="971550"/>
            <a:ext cx="8377730" cy="7988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Setelah jenis data diketahui, missing value ditangani dengan cara yang berbeda sesuai dengan tipe datanya</a:t>
            </a:r>
          </a:p>
        </p:txBody>
      </p:sp>
      <p:sp>
        <p:nvSpPr>
          <p:cNvPr name="TextBox 6" id="6"/>
          <p:cNvSpPr txBox="true"/>
          <p:nvPr/>
        </p:nvSpPr>
        <p:spPr>
          <a:xfrm rot="0">
            <a:off x="792754" y="1914525"/>
            <a:ext cx="8849622" cy="119888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Data kategorikal → nilai kosong diisi dengan None</a:t>
            </a:r>
          </a:p>
          <a:p>
            <a:pPr algn="l"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Data numerik → nilai kosong diisi menggunakan median</a:t>
            </a:r>
          </a:p>
          <a:p>
            <a:pPr algn="l">
              <a:lnSpc>
                <a:spcPts val="3220"/>
              </a:lnSpc>
            </a:pPr>
          </a:p>
        </p:txBody>
      </p:sp>
      <p:sp>
        <p:nvSpPr>
          <p:cNvPr name="TextBox 7" id="7"/>
          <p:cNvSpPr txBox="true"/>
          <p:nvPr/>
        </p:nvSpPr>
        <p:spPr>
          <a:xfrm rot="0">
            <a:off x="1028700" y="8859520"/>
            <a:ext cx="8377730" cy="39878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Total missing setelah preprocessing = 0</a:t>
            </a:r>
          </a:p>
        </p:txBody>
      </p:sp>
      <p:sp>
        <p:nvSpPr>
          <p:cNvPr name="Freeform 8" id="8"/>
          <p:cNvSpPr/>
          <p:nvPr/>
        </p:nvSpPr>
        <p:spPr>
          <a:xfrm flipH="false" flipV="false" rot="0">
            <a:off x="15781455" y="-1115493"/>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3"/>
            <a:stretch>
              <a:fillRect l="0" t="0" r="0" b="0"/>
            </a:stretch>
          </a:blipFill>
        </p:spPr>
      </p:sp>
      <p:sp>
        <p:nvSpPr>
          <p:cNvPr name="Freeform 9" id="9"/>
          <p:cNvSpPr/>
          <p:nvPr/>
        </p:nvSpPr>
        <p:spPr>
          <a:xfrm flipH="false" flipV="false" rot="0">
            <a:off x="-1309474" y="7566362"/>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671025"/>
            <a:ext cx="5557993" cy="2799080"/>
          </a:xfrm>
          <a:prstGeom prst="rect">
            <a:avLst/>
          </a:prstGeom>
        </p:spPr>
        <p:txBody>
          <a:bodyPr anchor="t" rtlCol="false" tIns="0" lIns="0" bIns="0" rIns="0">
            <a:spAutoFit/>
          </a:bodyPr>
          <a:lstStyle/>
          <a:p>
            <a:pPr algn="just">
              <a:lnSpc>
                <a:spcPts val="3220"/>
              </a:lnSpc>
            </a:pPr>
            <a:r>
              <a:rPr lang="en-US" sz="2300">
                <a:solidFill>
                  <a:srgbClr val="FFFFFF"/>
                </a:solidFill>
                <a:latin typeface="Poppins Light"/>
                <a:ea typeface="Poppins Light"/>
                <a:cs typeface="Poppins Light"/>
                <a:sym typeface="Poppins Light"/>
              </a:rPr>
              <a:t>Setelah missing value ditangani, data kategorikal diubah menjadi bentuk numerik menggunakan One-Hot Encoding. Setiap kategori dibuat menjadi kolom baru dengan nilai 0 dan 1 , sehingga data dapat digunakan dalam proses regresi.</a:t>
            </a:r>
          </a:p>
        </p:txBody>
      </p:sp>
      <p:sp>
        <p:nvSpPr>
          <p:cNvPr name="AutoShape 3" id="3"/>
          <p:cNvSpPr/>
          <p:nvPr/>
        </p:nvSpPr>
        <p:spPr>
          <a:xfrm>
            <a:off x="2497310" y="1922835"/>
            <a:ext cx="13293380" cy="0"/>
          </a:xfrm>
          <a:prstGeom prst="line">
            <a:avLst/>
          </a:prstGeom>
          <a:ln cap="rnd" w="19050">
            <a:solidFill>
              <a:srgbClr val="10B5BF"/>
            </a:solidFill>
            <a:prstDash val="solid"/>
            <a:headEnd type="none" len="sm" w="sm"/>
            <a:tailEnd type="none" len="sm" w="sm"/>
          </a:ln>
        </p:spPr>
      </p:sp>
      <p:sp>
        <p:nvSpPr>
          <p:cNvPr name="Freeform 4" id="4"/>
          <p:cNvSpPr/>
          <p:nvPr/>
        </p:nvSpPr>
        <p:spPr>
          <a:xfrm flipH="false" flipV="false" rot="0">
            <a:off x="7304784" y="3137253"/>
            <a:ext cx="9954516" cy="4174475"/>
          </a:xfrm>
          <a:custGeom>
            <a:avLst/>
            <a:gdLst/>
            <a:ahLst/>
            <a:cxnLst/>
            <a:rect r="r" b="b" t="t" l="l"/>
            <a:pathLst>
              <a:path h="4174475" w="9954516">
                <a:moveTo>
                  <a:pt x="0" y="0"/>
                </a:moveTo>
                <a:lnTo>
                  <a:pt x="9954516" y="0"/>
                </a:lnTo>
                <a:lnTo>
                  <a:pt x="9954516" y="4174474"/>
                </a:lnTo>
                <a:lnTo>
                  <a:pt x="0" y="4174474"/>
                </a:lnTo>
                <a:lnTo>
                  <a:pt x="0" y="0"/>
                </a:lnTo>
                <a:close/>
              </a:path>
            </a:pathLst>
          </a:custGeom>
          <a:blipFill>
            <a:blip r:embed="rId2"/>
            <a:stretch>
              <a:fillRect l="-12942" t="-55680" r="-21882" b="-25166"/>
            </a:stretch>
          </a:blipFill>
        </p:spPr>
      </p:sp>
      <p:sp>
        <p:nvSpPr>
          <p:cNvPr name="TextBox 5" id="5"/>
          <p:cNvSpPr txBox="true"/>
          <p:nvPr/>
        </p:nvSpPr>
        <p:spPr>
          <a:xfrm rot="0">
            <a:off x="2497310" y="504825"/>
            <a:ext cx="13293380"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Preprocessi</a:t>
            </a:r>
            <a:r>
              <a:rPr lang="en-US" sz="6000" b="true">
                <a:solidFill>
                  <a:srgbClr val="FFFFFF"/>
                </a:solidFill>
                <a:latin typeface="Poppins Semi-Bold"/>
                <a:ea typeface="Poppins Semi-Bold"/>
                <a:cs typeface="Poppins Semi-Bold"/>
                <a:sym typeface="Poppins Semi-Bold"/>
              </a:rPr>
              <a:t>ng : </a:t>
            </a:r>
            <a:r>
              <a:rPr lang="en-US" sz="6000">
                <a:solidFill>
                  <a:srgbClr val="FFFFFF"/>
                </a:solidFill>
                <a:latin typeface="Poppins"/>
                <a:ea typeface="Poppins"/>
                <a:cs typeface="Poppins"/>
                <a:sym typeface="Poppins"/>
              </a:rPr>
              <a:t>One-Hot Encoding</a:t>
            </a:r>
          </a:p>
        </p:txBody>
      </p:sp>
      <p:sp>
        <p:nvSpPr>
          <p:cNvPr name="TextBox 6" id="6"/>
          <p:cNvSpPr txBox="true"/>
          <p:nvPr/>
        </p:nvSpPr>
        <p:spPr>
          <a:xfrm rot="0">
            <a:off x="8225647" y="8454727"/>
            <a:ext cx="8112790" cy="7988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Tampilan di atas merupakan beberapa contoh kolom setelah proses One-Hot Encoding.</a:t>
            </a:r>
          </a:p>
        </p:txBody>
      </p:sp>
      <p:sp>
        <p:nvSpPr>
          <p:cNvPr name="TextBox 7" id="7"/>
          <p:cNvSpPr txBox="true"/>
          <p:nvPr/>
        </p:nvSpPr>
        <p:spPr>
          <a:xfrm rot="0">
            <a:off x="1028700" y="6074609"/>
            <a:ext cx="5557993" cy="1598930"/>
          </a:xfrm>
          <a:prstGeom prst="rect">
            <a:avLst/>
          </a:prstGeom>
        </p:spPr>
        <p:txBody>
          <a:bodyPr anchor="t" rtlCol="false" tIns="0" lIns="0" bIns="0" rIns="0">
            <a:spAutoFit/>
          </a:bodyPr>
          <a:lstStyle/>
          <a:p>
            <a:pPr algn="ctr">
              <a:lnSpc>
                <a:spcPts val="3220"/>
              </a:lnSpc>
            </a:pPr>
            <a:r>
              <a:rPr lang="en-US" sz="2300">
                <a:solidFill>
                  <a:srgbClr val="10B5BF"/>
                </a:solidFill>
                <a:latin typeface="Poppins Light"/>
                <a:ea typeface="Poppins Light"/>
                <a:cs typeface="Poppins Light"/>
                <a:sym typeface="Poppins Light"/>
              </a:rPr>
              <a:t>Hasil Encoding</a:t>
            </a:r>
          </a:p>
          <a:p>
            <a:pPr algn="just"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Data awal setelah preprocessing: 1.460 × 79</a:t>
            </a:r>
          </a:p>
          <a:p>
            <a:pPr algn="just"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Data setelah encoding: 1.460 × 260</a:t>
            </a:r>
          </a:p>
        </p:txBody>
      </p:sp>
      <p:sp>
        <p:nvSpPr>
          <p:cNvPr name="Freeform 8" id="8"/>
          <p:cNvSpPr/>
          <p:nvPr/>
        </p:nvSpPr>
        <p:spPr>
          <a:xfrm flipH="false" flipV="false" rot="0">
            <a:off x="15790690" y="-11204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3"/>
            <a:stretch>
              <a:fillRect l="0" t="0" r="0" b="0"/>
            </a:stretch>
          </a:blipFill>
        </p:spPr>
      </p:sp>
      <p:sp>
        <p:nvSpPr>
          <p:cNvPr name="Freeform 9" id="9"/>
          <p:cNvSpPr/>
          <p:nvPr/>
        </p:nvSpPr>
        <p:spPr>
          <a:xfrm flipH="false" flipV="false" rot="0">
            <a:off x="-612480" y="8102164"/>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7325" y="2965530"/>
            <a:ext cx="4024271" cy="519938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Setelah seluruh data selesai diproses, dataset dibagi menjadi data training dan data testing. Data training digunakan untuk melatih model regresi, sedangkan data testing digunakan untuk melihat kemampuan model dalam memprediksi data yang belum digunakan saat proses pelatihan.</a:t>
            </a:r>
          </a:p>
        </p:txBody>
      </p:sp>
      <p:sp>
        <p:nvSpPr>
          <p:cNvPr name="AutoShape 3" id="3"/>
          <p:cNvSpPr/>
          <p:nvPr/>
        </p:nvSpPr>
        <p:spPr>
          <a:xfrm>
            <a:off x="2497310" y="1922835"/>
            <a:ext cx="13293380" cy="0"/>
          </a:xfrm>
          <a:prstGeom prst="line">
            <a:avLst/>
          </a:prstGeom>
          <a:ln cap="rnd" w="19050">
            <a:solidFill>
              <a:srgbClr val="10B5BF"/>
            </a:solidFill>
            <a:prstDash val="solid"/>
            <a:headEnd type="none" len="sm" w="sm"/>
            <a:tailEnd type="none" len="sm" w="sm"/>
          </a:ln>
        </p:spPr>
      </p:sp>
      <p:sp>
        <p:nvSpPr>
          <p:cNvPr name="TextBox 4" id="4"/>
          <p:cNvSpPr txBox="true"/>
          <p:nvPr/>
        </p:nvSpPr>
        <p:spPr>
          <a:xfrm rot="0">
            <a:off x="2497310" y="504825"/>
            <a:ext cx="13293380"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Preprocessi</a:t>
            </a:r>
            <a:r>
              <a:rPr lang="en-US" sz="6000" b="true">
                <a:solidFill>
                  <a:srgbClr val="FFFFFF"/>
                </a:solidFill>
                <a:latin typeface="Poppins Semi-Bold"/>
                <a:ea typeface="Poppins Semi-Bold"/>
                <a:cs typeface="Poppins Semi-Bold"/>
                <a:sym typeface="Poppins Semi-Bold"/>
              </a:rPr>
              <a:t>ng : </a:t>
            </a:r>
            <a:r>
              <a:rPr lang="en-US" sz="6000">
                <a:solidFill>
                  <a:srgbClr val="FFFFFF"/>
                </a:solidFill>
                <a:latin typeface="Poppins"/>
                <a:ea typeface="Poppins"/>
                <a:cs typeface="Poppins"/>
                <a:sym typeface="Poppins"/>
              </a:rPr>
              <a:t>Pembagian Data</a:t>
            </a:r>
          </a:p>
        </p:txBody>
      </p:sp>
      <p:sp>
        <p:nvSpPr>
          <p:cNvPr name="TextBox 5" id="5"/>
          <p:cNvSpPr txBox="true"/>
          <p:nvPr/>
        </p:nvSpPr>
        <p:spPr>
          <a:xfrm rot="0">
            <a:off x="13236403" y="6440885"/>
            <a:ext cx="4024271" cy="199898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Pembagian dilakukan menggunakan random_state = 42 agar hasil pembagian data tetap konsisten.</a:t>
            </a:r>
          </a:p>
        </p:txBody>
      </p:sp>
      <p:sp>
        <p:nvSpPr>
          <p:cNvPr name="Freeform 6" id="6"/>
          <p:cNvSpPr/>
          <p:nvPr/>
        </p:nvSpPr>
        <p:spPr>
          <a:xfrm flipH="false" flipV="false" rot="0">
            <a:off x="6218061" y="3516433"/>
            <a:ext cx="5851878" cy="4154723"/>
          </a:xfrm>
          <a:custGeom>
            <a:avLst/>
            <a:gdLst/>
            <a:ahLst/>
            <a:cxnLst/>
            <a:rect r="r" b="b" t="t" l="l"/>
            <a:pathLst>
              <a:path h="4154723" w="5851878">
                <a:moveTo>
                  <a:pt x="0" y="0"/>
                </a:moveTo>
                <a:lnTo>
                  <a:pt x="5851878" y="0"/>
                </a:lnTo>
                <a:lnTo>
                  <a:pt x="5851878" y="4154723"/>
                </a:lnTo>
                <a:lnTo>
                  <a:pt x="0" y="4154723"/>
                </a:lnTo>
                <a:lnTo>
                  <a:pt x="0" y="0"/>
                </a:lnTo>
                <a:close/>
              </a:path>
            </a:pathLst>
          </a:custGeom>
          <a:blipFill>
            <a:blip r:embed="rId2"/>
            <a:stretch>
              <a:fillRect l="0" t="0" r="0" b="0"/>
            </a:stretch>
          </a:blipFill>
        </p:spPr>
      </p:sp>
      <p:sp>
        <p:nvSpPr>
          <p:cNvPr name="TextBox 7" id="7"/>
          <p:cNvSpPr txBox="true"/>
          <p:nvPr/>
        </p:nvSpPr>
        <p:spPr>
          <a:xfrm rot="0">
            <a:off x="13235029" y="2965530"/>
            <a:ext cx="4024271" cy="1998980"/>
          </a:xfrm>
          <a:prstGeom prst="rect">
            <a:avLst/>
          </a:prstGeom>
        </p:spPr>
        <p:txBody>
          <a:bodyPr anchor="t" rtlCol="false" tIns="0" lIns="0" bIns="0" rIns="0">
            <a:spAutoFit/>
          </a:bodyPr>
          <a:lstStyle/>
          <a:p>
            <a:pPr algn="l">
              <a:lnSpc>
                <a:spcPts val="3220"/>
              </a:lnSpc>
            </a:pPr>
            <a:r>
              <a:rPr lang="en-US" sz="2300">
                <a:solidFill>
                  <a:srgbClr val="FFFFFF"/>
                </a:solidFill>
                <a:latin typeface="Poppins Light"/>
                <a:ea typeface="Poppins Light"/>
                <a:cs typeface="Poppins Light"/>
                <a:sym typeface="Poppins Light"/>
              </a:rPr>
              <a:t>Hasil pembagian data:</a:t>
            </a:r>
          </a:p>
          <a:p>
            <a:pPr algn="just"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Data training: 1.168 data (80%)</a:t>
            </a:r>
          </a:p>
          <a:p>
            <a:pPr algn="just"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Data testing: 292 data (20%)</a:t>
            </a:r>
          </a:p>
        </p:txBody>
      </p:sp>
      <p:sp>
        <p:nvSpPr>
          <p:cNvPr name="Freeform 8" id="8"/>
          <p:cNvSpPr/>
          <p:nvPr/>
        </p:nvSpPr>
        <p:spPr>
          <a:xfrm flipH="false" flipV="false" rot="-10800000">
            <a:off x="5051597" y="2515592"/>
            <a:ext cx="1536630" cy="507088"/>
          </a:xfrm>
          <a:custGeom>
            <a:avLst/>
            <a:gdLst/>
            <a:ahLst/>
            <a:cxnLst/>
            <a:rect r="r" b="b" t="t" l="l"/>
            <a:pathLst>
              <a:path h="507088" w="1536630">
                <a:moveTo>
                  <a:pt x="0" y="0"/>
                </a:moveTo>
                <a:lnTo>
                  <a:pt x="1536630" y="0"/>
                </a:lnTo>
                <a:lnTo>
                  <a:pt x="1536630" y="507088"/>
                </a:lnTo>
                <a:lnTo>
                  <a:pt x="0" y="5070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10800000">
            <a:off x="11301624" y="2470853"/>
            <a:ext cx="1536630" cy="507088"/>
          </a:xfrm>
          <a:custGeom>
            <a:avLst/>
            <a:gdLst/>
            <a:ahLst/>
            <a:cxnLst/>
            <a:rect r="r" b="b" t="t" l="l"/>
            <a:pathLst>
              <a:path h="507088" w="1536630">
                <a:moveTo>
                  <a:pt x="1536630" y="0"/>
                </a:moveTo>
                <a:lnTo>
                  <a:pt x="0" y="0"/>
                </a:lnTo>
                <a:lnTo>
                  <a:pt x="0" y="507088"/>
                </a:lnTo>
                <a:lnTo>
                  <a:pt x="1536630" y="507088"/>
                </a:lnTo>
                <a:lnTo>
                  <a:pt x="153663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true" rot="-10800000">
            <a:off x="11301624" y="8099781"/>
            <a:ext cx="1536630" cy="507088"/>
          </a:xfrm>
          <a:custGeom>
            <a:avLst/>
            <a:gdLst/>
            <a:ahLst/>
            <a:cxnLst/>
            <a:rect r="r" b="b" t="t" l="l"/>
            <a:pathLst>
              <a:path h="507088" w="1536630">
                <a:moveTo>
                  <a:pt x="1536630" y="507088"/>
                </a:moveTo>
                <a:lnTo>
                  <a:pt x="0" y="507088"/>
                </a:lnTo>
                <a:lnTo>
                  <a:pt x="0" y="0"/>
                </a:lnTo>
                <a:lnTo>
                  <a:pt x="1536630" y="0"/>
                </a:lnTo>
                <a:lnTo>
                  <a:pt x="1536630" y="50708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5790690" y="-11204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5"/>
            <a:stretch>
              <a:fillRect l="0" t="0" r="0" b="0"/>
            </a:stretch>
          </a:blipFill>
        </p:spPr>
      </p:sp>
      <p:sp>
        <p:nvSpPr>
          <p:cNvPr name="Freeform 12" id="12"/>
          <p:cNvSpPr/>
          <p:nvPr/>
        </p:nvSpPr>
        <p:spPr>
          <a:xfrm flipH="false" flipV="false" rot="0">
            <a:off x="-612480" y="8439865"/>
            <a:ext cx="3282359" cy="3383875"/>
          </a:xfrm>
          <a:custGeom>
            <a:avLst/>
            <a:gdLst/>
            <a:ahLst/>
            <a:cxnLst/>
            <a:rect r="r" b="b" t="t" l="l"/>
            <a:pathLst>
              <a:path h="3383875" w="3282359">
                <a:moveTo>
                  <a:pt x="0" y="0"/>
                </a:moveTo>
                <a:lnTo>
                  <a:pt x="3282360" y="0"/>
                </a:lnTo>
                <a:lnTo>
                  <a:pt x="3282360" y="3383875"/>
                </a:lnTo>
                <a:lnTo>
                  <a:pt x="0" y="3383875"/>
                </a:lnTo>
                <a:lnTo>
                  <a:pt x="0" y="0"/>
                </a:lnTo>
                <a:close/>
              </a:path>
            </a:pathLst>
          </a:custGeom>
          <a:blipFill>
            <a:blip r:embed="rId5"/>
            <a:stretch>
              <a:fillRect l="0" t="0" r="0" b="0"/>
            </a:stretch>
          </a:blipFill>
        </p:spPr>
      </p:sp>
      <p:sp>
        <p:nvSpPr>
          <p:cNvPr name="Freeform 13" id="13"/>
          <p:cNvSpPr/>
          <p:nvPr/>
        </p:nvSpPr>
        <p:spPr>
          <a:xfrm flipH="false" flipV="false" rot="0">
            <a:off x="2497310" y="8745935"/>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2757735" y="7459544"/>
            <a:ext cx="12772531" cy="23990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Setelah data dibagi menjadi training dan testing, dilakukan scaling untuk menyamakan skala antarfitur agar perbedaan rentang nilai antarvariabel tidak terlalu jauh saat digunakan dalam model regresi.. Proses ini menggunakan StandardScaler, dengan scaler dipelajari dari data training kemudian diterapkan pada data testing.</a:t>
            </a:r>
          </a:p>
          <a:p>
            <a:pPr algn="ctr">
              <a:lnSpc>
                <a:spcPts val="3220"/>
              </a:lnSpc>
            </a:pPr>
          </a:p>
          <a:p>
            <a:pPr algn="ctr">
              <a:lnSpc>
                <a:spcPts val="3220"/>
              </a:lnSpc>
            </a:pPr>
          </a:p>
        </p:txBody>
      </p:sp>
      <p:sp>
        <p:nvSpPr>
          <p:cNvPr name="AutoShape 3" id="3"/>
          <p:cNvSpPr/>
          <p:nvPr/>
        </p:nvSpPr>
        <p:spPr>
          <a:xfrm flipV="true">
            <a:off x="3525822" y="1922835"/>
            <a:ext cx="11236357" cy="0"/>
          </a:xfrm>
          <a:prstGeom prst="line">
            <a:avLst/>
          </a:prstGeom>
          <a:ln cap="rnd" w="19050">
            <a:solidFill>
              <a:srgbClr val="10B5BF"/>
            </a:solidFill>
            <a:prstDash val="solid"/>
            <a:headEnd type="none" len="sm" w="sm"/>
            <a:tailEnd type="none" len="sm" w="sm"/>
          </a:ln>
        </p:spPr>
      </p:sp>
      <p:sp>
        <p:nvSpPr>
          <p:cNvPr name="Freeform 4" id="4"/>
          <p:cNvSpPr/>
          <p:nvPr/>
        </p:nvSpPr>
        <p:spPr>
          <a:xfrm flipH="false" flipV="false" rot="0">
            <a:off x="2474634" y="3050063"/>
            <a:ext cx="8777099" cy="3485556"/>
          </a:xfrm>
          <a:custGeom>
            <a:avLst/>
            <a:gdLst/>
            <a:ahLst/>
            <a:cxnLst/>
            <a:rect r="r" b="b" t="t" l="l"/>
            <a:pathLst>
              <a:path h="3485556" w="8777099">
                <a:moveTo>
                  <a:pt x="0" y="0"/>
                </a:moveTo>
                <a:lnTo>
                  <a:pt x="8777099" y="0"/>
                </a:lnTo>
                <a:lnTo>
                  <a:pt x="8777099" y="3485556"/>
                </a:lnTo>
                <a:lnTo>
                  <a:pt x="0" y="3485556"/>
                </a:lnTo>
                <a:lnTo>
                  <a:pt x="0" y="0"/>
                </a:lnTo>
                <a:close/>
              </a:path>
            </a:pathLst>
          </a:custGeom>
          <a:blipFill>
            <a:blip r:embed="rId2"/>
            <a:stretch>
              <a:fillRect l="0" t="0" r="0" b="0"/>
            </a:stretch>
          </a:blipFill>
        </p:spPr>
      </p:sp>
      <p:sp>
        <p:nvSpPr>
          <p:cNvPr name="TextBox 5" id="5"/>
          <p:cNvSpPr txBox="true"/>
          <p:nvPr/>
        </p:nvSpPr>
        <p:spPr>
          <a:xfrm rot="0">
            <a:off x="3525822" y="504825"/>
            <a:ext cx="11236357"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Preprocessi</a:t>
            </a:r>
            <a:r>
              <a:rPr lang="en-US" sz="6000" b="true">
                <a:solidFill>
                  <a:srgbClr val="FFFFFF"/>
                </a:solidFill>
                <a:latin typeface="Poppins Semi-Bold"/>
                <a:ea typeface="Poppins Semi-Bold"/>
                <a:cs typeface="Poppins Semi-Bold"/>
                <a:sym typeface="Poppins Semi-Bold"/>
              </a:rPr>
              <a:t>ng : </a:t>
            </a:r>
            <a:r>
              <a:rPr lang="en-US" sz="6000">
                <a:solidFill>
                  <a:srgbClr val="FFFFFF"/>
                </a:solidFill>
                <a:latin typeface="Poppins"/>
                <a:ea typeface="Poppins"/>
                <a:cs typeface="Poppins"/>
                <a:sym typeface="Poppins"/>
              </a:rPr>
              <a:t>Scalling Data</a:t>
            </a:r>
          </a:p>
        </p:txBody>
      </p:sp>
      <p:sp>
        <p:nvSpPr>
          <p:cNvPr name="TextBox 6" id="6"/>
          <p:cNvSpPr txBox="true"/>
          <p:nvPr/>
        </p:nvSpPr>
        <p:spPr>
          <a:xfrm rot="0">
            <a:off x="12069939" y="4164826"/>
            <a:ext cx="4024271" cy="1198880"/>
          </a:xfrm>
          <a:prstGeom prst="rect">
            <a:avLst/>
          </a:prstGeom>
        </p:spPr>
        <p:txBody>
          <a:bodyPr anchor="t" rtlCol="false" tIns="0" lIns="0" bIns="0" rIns="0">
            <a:spAutoFit/>
          </a:bodyPr>
          <a:lstStyle/>
          <a:p>
            <a:pPr algn="l">
              <a:lnSpc>
                <a:spcPts val="3220"/>
              </a:lnSpc>
            </a:pPr>
            <a:r>
              <a:rPr lang="en-US" sz="2300">
                <a:solidFill>
                  <a:srgbClr val="10B5BF"/>
                </a:solidFill>
                <a:latin typeface="Poppins Light"/>
                <a:ea typeface="Poppins Light"/>
                <a:cs typeface="Poppins Light"/>
                <a:sym typeface="Poppins Light"/>
              </a:rPr>
              <a:t>Proses Scaling</a:t>
            </a:r>
          </a:p>
          <a:p>
            <a:pPr algn="l"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T</a:t>
            </a:r>
            <a:r>
              <a:rPr lang="en-US" sz="2300">
                <a:solidFill>
                  <a:srgbClr val="FFFFFF"/>
                </a:solidFill>
                <a:latin typeface="Poppins Light"/>
                <a:ea typeface="Poppins Light"/>
                <a:cs typeface="Poppins Light"/>
                <a:sym typeface="Poppins Light"/>
              </a:rPr>
              <a:t>raining: fit_transform()</a:t>
            </a:r>
          </a:p>
          <a:p>
            <a:pPr algn="l" marL="496571" indent="-248285" lvl="1">
              <a:lnSpc>
                <a:spcPts val="3220"/>
              </a:lnSpc>
              <a:buFont typeface="Arial"/>
              <a:buChar char="•"/>
            </a:pPr>
            <a:r>
              <a:rPr lang="en-US" sz="2300">
                <a:solidFill>
                  <a:srgbClr val="FFFFFF"/>
                </a:solidFill>
                <a:latin typeface="Poppins Light"/>
                <a:ea typeface="Poppins Light"/>
                <a:cs typeface="Poppins Light"/>
                <a:sym typeface="Poppins Light"/>
              </a:rPr>
              <a:t>T</a:t>
            </a:r>
            <a:r>
              <a:rPr lang="en-US" sz="2300">
                <a:solidFill>
                  <a:srgbClr val="FFFFFF"/>
                </a:solidFill>
                <a:latin typeface="Poppins Light"/>
                <a:ea typeface="Poppins Light"/>
                <a:cs typeface="Poppins Light"/>
                <a:sym typeface="Poppins Light"/>
              </a:rPr>
              <a:t>esting: transform()</a:t>
            </a:r>
          </a:p>
        </p:txBody>
      </p:sp>
      <p:sp>
        <p:nvSpPr>
          <p:cNvPr name="Freeform 7" id="7"/>
          <p:cNvSpPr/>
          <p:nvPr/>
        </p:nvSpPr>
        <p:spPr>
          <a:xfrm flipH="false" flipV="false" rot="0">
            <a:off x="-524624" y="-862185"/>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3"/>
            <a:stretch>
              <a:fillRect l="0" t="0" r="0" b="0"/>
            </a:stretch>
          </a:blipFill>
        </p:spPr>
      </p:sp>
      <p:sp>
        <p:nvSpPr>
          <p:cNvPr name="Freeform 8" id="8"/>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3525822" y="1922835"/>
            <a:ext cx="11236357" cy="0"/>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8106706" y="4872682"/>
            <a:ext cx="9152594" cy="4385618"/>
          </a:xfrm>
          <a:custGeom>
            <a:avLst/>
            <a:gdLst/>
            <a:ahLst/>
            <a:cxnLst/>
            <a:rect r="r" b="b" t="t" l="l"/>
            <a:pathLst>
              <a:path h="4385618" w="9152594">
                <a:moveTo>
                  <a:pt x="0" y="0"/>
                </a:moveTo>
                <a:lnTo>
                  <a:pt x="9152594" y="0"/>
                </a:lnTo>
                <a:lnTo>
                  <a:pt x="9152594" y="4385618"/>
                </a:lnTo>
                <a:lnTo>
                  <a:pt x="0" y="4385618"/>
                </a:lnTo>
                <a:lnTo>
                  <a:pt x="0" y="0"/>
                </a:lnTo>
                <a:close/>
              </a:path>
            </a:pathLst>
          </a:custGeom>
          <a:blipFill>
            <a:blip r:embed="rId2"/>
            <a:stretch>
              <a:fillRect l="0" t="0" r="0" b="0"/>
            </a:stretch>
          </a:blipFill>
        </p:spPr>
      </p:sp>
      <p:sp>
        <p:nvSpPr>
          <p:cNvPr name="TextBox 4" id="4"/>
          <p:cNvSpPr txBox="true"/>
          <p:nvPr/>
        </p:nvSpPr>
        <p:spPr>
          <a:xfrm rot="0">
            <a:off x="1028700" y="2969973"/>
            <a:ext cx="12772531" cy="1598930"/>
          </a:xfrm>
          <a:prstGeom prst="rect">
            <a:avLst/>
          </a:prstGeom>
        </p:spPr>
        <p:txBody>
          <a:bodyPr anchor="t" rtlCol="false" tIns="0" lIns="0" bIns="0" rIns="0">
            <a:spAutoFit/>
          </a:bodyPr>
          <a:lstStyle/>
          <a:p>
            <a:pPr algn="l">
              <a:lnSpc>
                <a:spcPts val="3220"/>
              </a:lnSpc>
            </a:pPr>
            <a:r>
              <a:rPr lang="en-US" sz="2300">
                <a:solidFill>
                  <a:srgbClr val="FFFFFF"/>
                </a:solidFill>
                <a:latin typeface="Poppins Light"/>
                <a:ea typeface="Poppins Light"/>
                <a:cs typeface="Poppins Light"/>
                <a:sym typeface="Poppins Light"/>
              </a:rPr>
              <a:t>Setelah seluruh tahap preprocessing selesai, data training yang sudah melalui proses scaling digunakan untuk melatih model Linear Regression. Model mempelajari hubungan antara karakteristik rumah dengan SalePrice yang menjadi target prediksi.</a:t>
            </a:r>
          </a:p>
          <a:p>
            <a:pPr algn="l">
              <a:lnSpc>
                <a:spcPts val="3220"/>
              </a:lnSpc>
            </a:pPr>
          </a:p>
        </p:txBody>
      </p:sp>
      <p:sp>
        <p:nvSpPr>
          <p:cNvPr name="TextBox 5" id="5"/>
          <p:cNvSpPr txBox="true"/>
          <p:nvPr/>
        </p:nvSpPr>
        <p:spPr>
          <a:xfrm rot="0">
            <a:off x="3661252" y="504825"/>
            <a:ext cx="10965497"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Regresi Linear</a:t>
            </a:r>
            <a:r>
              <a:rPr lang="en-US" sz="6000" b="true">
                <a:solidFill>
                  <a:srgbClr val="FFFFFF"/>
                </a:solidFill>
                <a:latin typeface="Poppins Semi-Bold"/>
                <a:ea typeface="Poppins Semi-Bold"/>
                <a:cs typeface="Poppins Semi-Bold"/>
                <a:sym typeface="Poppins Semi-Bold"/>
              </a:rPr>
              <a:t> – </a:t>
            </a:r>
            <a:r>
              <a:rPr lang="en-US" sz="6000">
                <a:solidFill>
                  <a:srgbClr val="FFFFFF"/>
                </a:solidFill>
                <a:latin typeface="Poppins"/>
                <a:ea typeface="Poppins"/>
                <a:cs typeface="Poppins"/>
                <a:sym typeface="Poppins"/>
              </a:rPr>
              <a:t>Pemodelan</a:t>
            </a:r>
          </a:p>
        </p:txBody>
      </p:sp>
      <p:sp>
        <p:nvSpPr>
          <p:cNvPr name="Freeform 6" id="6"/>
          <p:cNvSpPr/>
          <p:nvPr/>
        </p:nvSpPr>
        <p:spPr>
          <a:xfrm flipH="true" flipV="true" rot="-9584783">
            <a:off x="5838069" y="4819199"/>
            <a:ext cx="1536630" cy="507088"/>
          </a:xfrm>
          <a:custGeom>
            <a:avLst/>
            <a:gdLst/>
            <a:ahLst/>
            <a:cxnLst/>
            <a:rect r="r" b="b" t="t" l="l"/>
            <a:pathLst>
              <a:path h="507088" w="1536630">
                <a:moveTo>
                  <a:pt x="1536631" y="507088"/>
                </a:moveTo>
                <a:lnTo>
                  <a:pt x="0" y="507088"/>
                </a:lnTo>
                <a:lnTo>
                  <a:pt x="0" y="0"/>
                </a:lnTo>
                <a:lnTo>
                  <a:pt x="1536631" y="0"/>
                </a:lnTo>
                <a:lnTo>
                  <a:pt x="1536631" y="50708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618120" y="-889601"/>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5"/>
            <a:stretch>
              <a:fillRect l="0" t="0" r="0" b="0"/>
            </a:stretch>
          </a:blipFill>
        </p:spPr>
      </p:sp>
      <p:sp>
        <p:nvSpPr>
          <p:cNvPr name="Freeform 8" id="8"/>
          <p:cNvSpPr/>
          <p:nvPr/>
        </p:nvSpPr>
        <p:spPr>
          <a:xfrm flipH="false" flipV="false" rot="0">
            <a:off x="-612480" y="8145493"/>
            <a:ext cx="3282359" cy="3383875"/>
          </a:xfrm>
          <a:custGeom>
            <a:avLst/>
            <a:gdLst/>
            <a:ahLst/>
            <a:cxnLst/>
            <a:rect r="r" b="b" t="t" l="l"/>
            <a:pathLst>
              <a:path h="3383875" w="3282359">
                <a:moveTo>
                  <a:pt x="0" y="0"/>
                </a:moveTo>
                <a:lnTo>
                  <a:pt x="3282360" y="0"/>
                </a:lnTo>
                <a:lnTo>
                  <a:pt x="3282360" y="3383876"/>
                </a:lnTo>
                <a:lnTo>
                  <a:pt x="0" y="3383876"/>
                </a:lnTo>
                <a:lnTo>
                  <a:pt x="0" y="0"/>
                </a:lnTo>
                <a:close/>
              </a:path>
            </a:pathLst>
          </a:custGeom>
          <a:blipFill>
            <a:blip r:embed="rId5"/>
            <a:stretch>
              <a:fillRect l="0" t="0" r="0" b="0"/>
            </a:stretch>
          </a:blipFill>
        </p:spPr>
      </p:sp>
      <p:sp>
        <p:nvSpPr>
          <p:cNvPr name="Freeform 9" id="9"/>
          <p:cNvSpPr/>
          <p:nvPr/>
        </p:nvSpPr>
        <p:spPr>
          <a:xfrm flipH="false" flipV="false" rot="0">
            <a:off x="-2253659" y="5143500"/>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3525822" y="1922835"/>
            <a:ext cx="11236357" cy="0"/>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6371834" y="2907710"/>
            <a:ext cx="5544331" cy="3209876"/>
          </a:xfrm>
          <a:custGeom>
            <a:avLst/>
            <a:gdLst/>
            <a:ahLst/>
            <a:cxnLst/>
            <a:rect r="r" b="b" t="t" l="l"/>
            <a:pathLst>
              <a:path h="3209876" w="5544331">
                <a:moveTo>
                  <a:pt x="0" y="0"/>
                </a:moveTo>
                <a:lnTo>
                  <a:pt x="5544332" y="0"/>
                </a:lnTo>
                <a:lnTo>
                  <a:pt x="5544332" y="3209876"/>
                </a:lnTo>
                <a:lnTo>
                  <a:pt x="0" y="3209876"/>
                </a:lnTo>
                <a:lnTo>
                  <a:pt x="0" y="0"/>
                </a:lnTo>
                <a:close/>
              </a:path>
            </a:pathLst>
          </a:custGeom>
          <a:blipFill>
            <a:blip r:embed="rId2"/>
            <a:stretch>
              <a:fillRect l="0" t="0" r="0" b="0"/>
            </a:stretch>
          </a:blipFill>
        </p:spPr>
      </p:sp>
      <p:sp>
        <p:nvSpPr>
          <p:cNvPr name="TextBox 4" id="4"/>
          <p:cNvSpPr txBox="true"/>
          <p:nvPr/>
        </p:nvSpPr>
        <p:spPr>
          <a:xfrm rot="0">
            <a:off x="2048401" y="503610"/>
            <a:ext cx="14191197"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Regresi Linear</a:t>
            </a:r>
            <a:r>
              <a:rPr lang="en-US" sz="6000" b="true">
                <a:solidFill>
                  <a:srgbClr val="FFFFFF"/>
                </a:solidFill>
                <a:latin typeface="Poppins Semi-Bold"/>
                <a:ea typeface="Poppins Semi-Bold"/>
                <a:cs typeface="Poppins Semi-Bold"/>
                <a:sym typeface="Poppins Semi-Bold"/>
              </a:rPr>
              <a:t> – </a:t>
            </a:r>
            <a:r>
              <a:rPr lang="en-US" sz="6000">
                <a:solidFill>
                  <a:srgbClr val="FFFFFF"/>
                </a:solidFill>
                <a:latin typeface="Poppins"/>
                <a:ea typeface="Poppins"/>
                <a:cs typeface="Poppins"/>
                <a:sym typeface="Poppins"/>
              </a:rPr>
              <a:t>Hasil Evaluasi Model</a:t>
            </a:r>
          </a:p>
        </p:txBody>
      </p:sp>
      <p:sp>
        <p:nvSpPr>
          <p:cNvPr name="TextBox 5" id="5"/>
          <p:cNvSpPr txBox="true"/>
          <p:nvPr/>
        </p:nvSpPr>
        <p:spPr>
          <a:xfrm rot="0">
            <a:off x="1028700" y="6859270"/>
            <a:ext cx="7095623" cy="23990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Setelah model dilatih, dilakukan pengujian menggunakan data testing untuk melihat seberapa baik model dalam memprediksi SalePrice. Hasil pengujian kemudian dilihat menggunakan beberapa metrik evaluasi.</a:t>
            </a:r>
          </a:p>
          <a:p>
            <a:pPr algn="ctr">
              <a:lnSpc>
                <a:spcPts val="3220"/>
              </a:lnSpc>
            </a:pPr>
          </a:p>
        </p:txBody>
      </p:sp>
      <p:sp>
        <p:nvSpPr>
          <p:cNvPr name="TextBox 6" id="6"/>
          <p:cNvSpPr txBox="true"/>
          <p:nvPr/>
        </p:nvSpPr>
        <p:spPr>
          <a:xfrm rot="0">
            <a:off x="11025506" y="7031986"/>
            <a:ext cx="6233794" cy="15989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Nilai R² sebesar 0,9994 menunjukkan bahwa model mampu menjelaskan sekitar 99,94% variasi harga rumah pada data testing.</a:t>
            </a:r>
          </a:p>
        </p:txBody>
      </p:sp>
      <p:sp>
        <p:nvSpPr>
          <p:cNvPr name="Freeform 7" id="7"/>
          <p:cNvSpPr/>
          <p:nvPr/>
        </p:nvSpPr>
        <p:spPr>
          <a:xfrm flipH="true" flipV="false" rot="-9584783">
            <a:off x="12565507" y="5393796"/>
            <a:ext cx="1536630" cy="507088"/>
          </a:xfrm>
          <a:custGeom>
            <a:avLst/>
            <a:gdLst/>
            <a:ahLst/>
            <a:cxnLst/>
            <a:rect r="r" b="b" t="t" l="l"/>
            <a:pathLst>
              <a:path h="507088" w="1536630">
                <a:moveTo>
                  <a:pt x="1536630" y="0"/>
                </a:moveTo>
                <a:lnTo>
                  <a:pt x="0" y="0"/>
                </a:lnTo>
                <a:lnTo>
                  <a:pt x="0" y="507088"/>
                </a:lnTo>
                <a:lnTo>
                  <a:pt x="1536630" y="507088"/>
                </a:lnTo>
                <a:lnTo>
                  <a:pt x="153663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9778350">
            <a:off x="4001128" y="5430220"/>
            <a:ext cx="1536630" cy="507088"/>
          </a:xfrm>
          <a:custGeom>
            <a:avLst/>
            <a:gdLst/>
            <a:ahLst/>
            <a:cxnLst/>
            <a:rect r="r" b="b" t="t" l="l"/>
            <a:pathLst>
              <a:path h="507088" w="1536630">
                <a:moveTo>
                  <a:pt x="1536630" y="0"/>
                </a:moveTo>
                <a:lnTo>
                  <a:pt x="0" y="0"/>
                </a:lnTo>
                <a:lnTo>
                  <a:pt x="0" y="507087"/>
                </a:lnTo>
                <a:lnTo>
                  <a:pt x="1536630" y="507087"/>
                </a:lnTo>
                <a:lnTo>
                  <a:pt x="153663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233958" y="-1121653"/>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5"/>
            <a:stretch>
              <a:fillRect l="0" t="0" r="0" b="0"/>
            </a:stretch>
          </a:blipFill>
        </p:spPr>
      </p:sp>
      <p:sp>
        <p:nvSpPr>
          <p:cNvPr name="Freeform 10" id="10"/>
          <p:cNvSpPr/>
          <p:nvPr/>
        </p:nvSpPr>
        <p:spPr>
          <a:xfrm flipH="false" flipV="false" rot="0">
            <a:off x="-1982773" y="229988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5"/>
            <a:stretch>
              <a:fillRect l="0" t="0" r="0" b="0"/>
            </a:stretch>
          </a:blipFill>
        </p:spPr>
      </p:sp>
      <p:sp>
        <p:nvSpPr>
          <p:cNvPr name="Freeform 11" id="11"/>
          <p:cNvSpPr/>
          <p:nvPr/>
        </p:nvSpPr>
        <p:spPr>
          <a:xfrm flipH="false" flipV="false" rot="0">
            <a:off x="16239599" y="1922835"/>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3525822" y="1922835"/>
            <a:ext cx="11236357" cy="0"/>
          </a:xfrm>
          <a:prstGeom prst="line">
            <a:avLst/>
          </a:prstGeom>
          <a:ln cap="rnd" w="19050">
            <a:solidFill>
              <a:srgbClr val="10B5BF"/>
            </a:solidFill>
            <a:prstDash val="solid"/>
            <a:headEnd type="none" len="sm" w="sm"/>
            <a:tailEnd type="none" len="sm" w="sm"/>
          </a:ln>
        </p:spPr>
      </p:sp>
      <p:sp>
        <p:nvSpPr>
          <p:cNvPr name="Freeform 3" id="3"/>
          <p:cNvSpPr/>
          <p:nvPr/>
        </p:nvSpPr>
        <p:spPr>
          <a:xfrm flipH="true" flipV="false" rot="-9584783">
            <a:off x="12679382" y="5989919"/>
            <a:ext cx="1536630" cy="507088"/>
          </a:xfrm>
          <a:custGeom>
            <a:avLst/>
            <a:gdLst/>
            <a:ahLst/>
            <a:cxnLst/>
            <a:rect r="r" b="b" t="t" l="l"/>
            <a:pathLst>
              <a:path h="507088" w="1536630">
                <a:moveTo>
                  <a:pt x="1536630" y="0"/>
                </a:moveTo>
                <a:lnTo>
                  <a:pt x="0" y="0"/>
                </a:lnTo>
                <a:lnTo>
                  <a:pt x="0" y="507088"/>
                </a:lnTo>
                <a:lnTo>
                  <a:pt x="1536630" y="507088"/>
                </a:lnTo>
                <a:lnTo>
                  <a:pt x="15366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292105" y="2360985"/>
            <a:ext cx="5703790" cy="4386317"/>
          </a:xfrm>
          <a:custGeom>
            <a:avLst/>
            <a:gdLst/>
            <a:ahLst/>
            <a:cxnLst/>
            <a:rect r="r" b="b" t="t" l="l"/>
            <a:pathLst>
              <a:path h="4386317" w="5703790">
                <a:moveTo>
                  <a:pt x="0" y="0"/>
                </a:moveTo>
                <a:lnTo>
                  <a:pt x="5703790" y="0"/>
                </a:lnTo>
                <a:lnTo>
                  <a:pt x="5703790" y="4386317"/>
                </a:lnTo>
                <a:lnTo>
                  <a:pt x="0" y="4386317"/>
                </a:lnTo>
                <a:lnTo>
                  <a:pt x="0" y="0"/>
                </a:lnTo>
                <a:close/>
              </a:path>
            </a:pathLst>
          </a:custGeom>
          <a:blipFill>
            <a:blip r:embed="rId4"/>
            <a:stretch>
              <a:fillRect l="0" t="0" r="0" b="0"/>
            </a:stretch>
          </a:blipFill>
        </p:spPr>
      </p:sp>
      <p:sp>
        <p:nvSpPr>
          <p:cNvPr name="TextBox 5" id="5"/>
          <p:cNvSpPr txBox="true"/>
          <p:nvPr/>
        </p:nvSpPr>
        <p:spPr>
          <a:xfrm rot="0">
            <a:off x="1028700" y="7118777"/>
            <a:ext cx="8115300" cy="199898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Grafik di atas membandingkan harga rumah sebenarnya dengan harga yang diprediksi oleh model. Sebagian besar titik berada cukup dekat dengan garis diagonal, sehingga hasil prediksi model terlihat mendekati nilai harga sebenarnya.</a:t>
            </a:r>
          </a:p>
        </p:txBody>
      </p:sp>
      <p:sp>
        <p:nvSpPr>
          <p:cNvPr name="TextBox 6" id="6"/>
          <p:cNvSpPr txBox="true"/>
          <p:nvPr/>
        </p:nvSpPr>
        <p:spPr>
          <a:xfrm rot="0">
            <a:off x="2194390" y="504825"/>
            <a:ext cx="13899220"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Regresi Linear</a:t>
            </a:r>
            <a:r>
              <a:rPr lang="en-US" sz="6000" b="true">
                <a:solidFill>
                  <a:srgbClr val="FFFFFF"/>
                </a:solidFill>
                <a:latin typeface="Poppins Semi-Bold"/>
                <a:ea typeface="Poppins Semi-Bold"/>
                <a:cs typeface="Poppins Semi-Bold"/>
                <a:sym typeface="Poppins Semi-Bold"/>
              </a:rPr>
              <a:t> – </a:t>
            </a:r>
            <a:r>
              <a:rPr lang="en-US" sz="6000">
                <a:solidFill>
                  <a:srgbClr val="FFFFFF"/>
                </a:solidFill>
                <a:latin typeface="Poppins"/>
                <a:ea typeface="Poppins"/>
                <a:cs typeface="Poppins"/>
                <a:sym typeface="Poppins"/>
              </a:rPr>
              <a:t>Actual VS Predicted</a:t>
            </a:r>
          </a:p>
        </p:txBody>
      </p:sp>
      <p:sp>
        <p:nvSpPr>
          <p:cNvPr name="TextBox 7" id="7"/>
          <p:cNvSpPr txBox="true"/>
          <p:nvPr/>
        </p:nvSpPr>
        <p:spPr>
          <a:xfrm rot="0">
            <a:off x="10655795" y="7518827"/>
            <a:ext cx="5583804" cy="1198880"/>
          </a:xfrm>
          <a:prstGeom prst="rect">
            <a:avLst/>
          </a:prstGeom>
        </p:spPr>
        <p:txBody>
          <a:bodyPr anchor="t" rtlCol="false" tIns="0" lIns="0" bIns="0" rIns="0">
            <a:spAutoFit/>
          </a:bodyPr>
          <a:lstStyle/>
          <a:p>
            <a:pPr algn="just">
              <a:lnSpc>
                <a:spcPts val="3220"/>
              </a:lnSpc>
            </a:pPr>
            <a:r>
              <a:rPr lang="en-US" sz="2300">
                <a:solidFill>
                  <a:srgbClr val="FFFFFF"/>
                </a:solidFill>
                <a:latin typeface="Poppins Light"/>
                <a:ea typeface="Poppins Light"/>
                <a:cs typeface="Poppins Light"/>
                <a:sym typeface="Poppins Light"/>
              </a:rPr>
              <a:t>Actual = harga rumah sebenarnya</a:t>
            </a:r>
          </a:p>
          <a:p>
            <a:pPr algn="just">
              <a:lnSpc>
                <a:spcPts val="3220"/>
              </a:lnSpc>
            </a:pPr>
            <a:r>
              <a:rPr lang="en-US" sz="2300">
                <a:solidFill>
                  <a:srgbClr val="FFFFFF"/>
                </a:solidFill>
                <a:latin typeface="Poppins Light"/>
                <a:ea typeface="Poppins Light"/>
                <a:cs typeface="Poppins Light"/>
                <a:sym typeface="Poppins Light"/>
              </a:rPr>
              <a:t>Predicted = harga rumah yang diprediksi oleh model</a:t>
            </a:r>
          </a:p>
        </p:txBody>
      </p:sp>
      <p:sp>
        <p:nvSpPr>
          <p:cNvPr name="Freeform 8" id="8"/>
          <p:cNvSpPr/>
          <p:nvPr/>
        </p:nvSpPr>
        <p:spPr>
          <a:xfrm flipH="false" flipV="false" rot="10138249">
            <a:off x="4073460" y="5989919"/>
            <a:ext cx="1536630" cy="507088"/>
          </a:xfrm>
          <a:custGeom>
            <a:avLst/>
            <a:gdLst/>
            <a:ahLst/>
            <a:cxnLst/>
            <a:rect r="r" b="b" t="t" l="l"/>
            <a:pathLst>
              <a:path h="507088" w="1536630">
                <a:moveTo>
                  <a:pt x="0" y="0"/>
                </a:moveTo>
                <a:lnTo>
                  <a:pt x="1536630" y="0"/>
                </a:lnTo>
                <a:lnTo>
                  <a:pt x="1536630" y="507088"/>
                </a:lnTo>
                <a:lnTo>
                  <a:pt x="0" y="5070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239599" y="1922835"/>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5"/>
            <a:stretch>
              <a:fillRect l="0" t="0" r="0" b="0"/>
            </a:stretch>
          </a:blipFill>
        </p:spPr>
      </p:sp>
      <p:sp>
        <p:nvSpPr>
          <p:cNvPr name="Freeform 10" id="10"/>
          <p:cNvSpPr/>
          <p:nvPr/>
        </p:nvSpPr>
        <p:spPr>
          <a:xfrm flipH="false" flipV="false" rot="0">
            <a:off x="-1230844" y="-11204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5"/>
            <a:stretch>
              <a:fillRect l="0" t="0" r="0" b="0"/>
            </a:stretch>
          </a:blipFill>
        </p:spPr>
      </p:sp>
      <p:sp>
        <p:nvSpPr>
          <p:cNvPr name="Freeform 11" id="11"/>
          <p:cNvSpPr/>
          <p:nvPr/>
        </p:nvSpPr>
        <p:spPr>
          <a:xfrm flipH="false" flipV="false" rot="0">
            <a:off x="-1923511" y="2355748"/>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3525822" y="1922835"/>
            <a:ext cx="11236357" cy="0"/>
          </a:xfrm>
          <a:prstGeom prst="line">
            <a:avLst/>
          </a:prstGeom>
          <a:ln cap="rnd" w="19050">
            <a:solidFill>
              <a:srgbClr val="10B5BF"/>
            </a:solidFill>
            <a:prstDash val="solid"/>
            <a:headEnd type="none" len="sm" w="sm"/>
            <a:tailEnd type="none" len="sm" w="sm"/>
          </a:ln>
        </p:spPr>
      </p:sp>
      <p:sp>
        <p:nvSpPr>
          <p:cNvPr name="Freeform 3" id="3"/>
          <p:cNvSpPr/>
          <p:nvPr/>
        </p:nvSpPr>
        <p:spPr>
          <a:xfrm flipH="true" flipV="false" rot="-9640648">
            <a:off x="9184616" y="3982312"/>
            <a:ext cx="1536630" cy="507088"/>
          </a:xfrm>
          <a:custGeom>
            <a:avLst/>
            <a:gdLst/>
            <a:ahLst/>
            <a:cxnLst/>
            <a:rect r="r" b="b" t="t" l="l"/>
            <a:pathLst>
              <a:path h="507088" w="1536630">
                <a:moveTo>
                  <a:pt x="1536630" y="0"/>
                </a:moveTo>
                <a:lnTo>
                  <a:pt x="0" y="0"/>
                </a:lnTo>
                <a:lnTo>
                  <a:pt x="0" y="507088"/>
                </a:lnTo>
                <a:lnTo>
                  <a:pt x="1536630" y="507088"/>
                </a:lnTo>
                <a:lnTo>
                  <a:pt x="15366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8401" y="2761035"/>
            <a:ext cx="6493616" cy="4993708"/>
          </a:xfrm>
          <a:custGeom>
            <a:avLst/>
            <a:gdLst/>
            <a:ahLst/>
            <a:cxnLst/>
            <a:rect r="r" b="b" t="t" l="l"/>
            <a:pathLst>
              <a:path h="4993708" w="6493616">
                <a:moveTo>
                  <a:pt x="0" y="0"/>
                </a:moveTo>
                <a:lnTo>
                  <a:pt x="6493616" y="0"/>
                </a:lnTo>
                <a:lnTo>
                  <a:pt x="6493616" y="4993708"/>
                </a:lnTo>
                <a:lnTo>
                  <a:pt x="0" y="4993708"/>
                </a:lnTo>
                <a:lnTo>
                  <a:pt x="0" y="0"/>
                </a:lnTo>
                <a:close/>
              </a:path>
            </a:pathLst>
          </a:custGeom>
          <a:blipFill>
            <a:blip r:embed="rId4"/>
            <a:stretch>
              <a:fillRect l="0" t="0" r="0" b="0"/>
            </a:stretch>
          </a:blipFill>
        </p:spPr>
      </p:sp>
      <p:sp>
        <p:nvSpPr>
          <p:cNvPr name="TextBox 5" id="5"/>
          <p:cNvSpPr txBox="true"/>
          <p:nvPr/>
        </p:nvSpPr>
        <p:spPr>
          <a:xfrm rot="0">
            <a:off x="9144000" y="5652615"/>
            <a:ext cx="8115300" cy="2399030"/>
          </a:xfrm>
          <a:prstGeom prst="rect">
            <a:avLst/>
          </a:prstGeom>
        </p:spPr>
        <p:txBody>
          <a:bodyPr anchor="t" rtlCol="false" tIns="0" lIns="0" bIns="0" rIns="0">
            <a:spAutoFit/>
          </a:bodyPr>
          <a:lstStyle/>
          <a:p>
            <a:pPr algn="ctr">
              <a:lnSpc>
                <a:spcPts val="3220"/>
              </a:lnSpc>
            </a:pPr>
            <a:r>
              <a:rPr lang="en-US" sz="2300">
                <a:solidFill>
                  <a:srgbClr val="FFFFFF"/>
                </a:solidFill>
                <a:latin typeface="Poppins Light"/>
                <a:ea typeface="Poppins Light"/>
                <a:cs typeface="Poppins Light"/>
                <a:sym typeface="Poppins Light"/>
              </a:rPr>
              <a:t>Analisis residual digunakan untuk melihat selisih antara harga sebenarnya dengan harga yang diprediksi oleh model. Pada grafik, sebagian besar residual berada di sekitar nilai 0, tetapi terdapat beberapa titik yang memiliki residual cukup jauh dari nilai lainnya.</a:t>
            </a:r>
          </a:p>
          <a:p>
            <a:pPr algn="ctr">
              <a:lnSpc>
                <a:spcPts val="3220"/>
              </a:lnSpc>
            </a:pPr>
          </a:p>
        </p:txBody>
      </p:sp>
      <p:sp>
        <p:nvSpPr>
          <p:cNvPr name="TextBox 6" id="6"/>
          <p:cNvSpPr txBox="true"/>
          <p:nvPr/>
        </p:nvSpPr>
        <p:spPr>
          <a:xfrm rot="0">
            <a:off x="2787111" y="504825"/>
            <a:ext cx="12713777"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Regresi Linear</a:t>
            </a:r>
            <a:r>
              <a:rPr lang="en-US" sz="6000" b="true">
                <a:solidFill>
                  <a:srgbClr val="FFFFFF"/>
                </a:solidFill>
                <a:latin typeface="Poppins Semi-Bold"/>
                <a:ea typeface="Poppins Semi-Bold"/>
                <a:cs typeface="Poppins Semi-Bold"/>
                <a:sym typeface="Poppins Semi-Bold"/>
              </a:rPr>
              <a:t> – </a:t>
            </a:r>
            <a:r>
              <a:rPr lang="en-US" sz="6000">
                <a:solidFill>
                  <a:srgbClr val="FFFFFF"/>
                </a:solidFill>
                <a:latin typeface="Poppins"/>
                <a:ea typeface="Poppins"/>
                <a:cs typeface="Poppins"/>
                <a:sym typeface="Poppins"/>
              </a:rPr>
              <a:t>Analisis Residual</a:t>
            </a:r>
          </a:p>
        </p:txBody>
      </p:sp>
      <p:sp>
        <p:nvSpPr>
          <p:cNvPr name="TextBox 7" id="7"/>
          <p:cNvSpPr txBox="true"/>
          <p:nvPr/>
        </p:nvSpPr>
        <p:spPr>
          <a:xfrm rot="0">
            <a:off x="1237559" y="8116693"/>
            <a:ext cx="8115300" cy="441325"/>
          </a:xfrm>
          <a:prstGeom prst="rect">
            <a:avLst/>
          </a:prstGeom>
        </p:spPr>
        <p:txBody>
          <a:bodyPr anchor="t" rtlCol="false" tIns="0" lIns="0" bIns="0" rIns="0">
            <a:spAutoFit/>
          </a:bodyPr>
          <a:lstStyle/>
          <a:p>
            <a:pPr algn="ctr">
              <a:lnSpc>
                <a:spcPts val="3499"/>
              </a:lnSpc>
            </a:pPr>
            <a:r>
              <a:rPr lang="en-US" sz="2499">
                <a:solidFill>
                  <a:srgbClr val="FFFFFF"/>
                </a:solidFill>
                <a:latin typeface="Poppins Light"/>
                <a:ea typeface="Poppins Light"/>
                <a:cs typeface="Poppins Light"/>
                <a:sym typeface="Poppins Light"/>
              </a:rPr>
              <a:t>Residual = nilai aktual − nilai prediksi</a:t>
            </a:r>
          </a:p>
        </p:txBody>
      </p:sp>
      <p:sp>
        <p:nvSpPr>
          <p:cNvPr name="Freeform 8" id="8"/>
          <p:cNvSpPr/>
          <p:nvPr/>
        </p:nvSpPr>
        <p:spPr>
          <a:xfrm flipH="false" flipV="false" rot="0">
            <a:off x="16029356" y="-11204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5"/>
            <a:stretch>
              <a:fillRect l="0" t="0" r="0" b="0"/>
            </a:stretch>
          </a:blipFill>
        </p:spPr>
      </p:sp>
      <p:sp>
        <p:nvSpPr>
          <p:cNvPr name="Freeform 9" id="9"/>
          <p:cNvSpPr/>
          <p:nvPr/>
        </p:nvSpPr>
        <p:spPr>
          <a:xfrm flipH="false" flipV="false" rot="0">
            <a:off x="16646820" y="2543919"/>
            <a:ext cx="3282359" cy="3383875"/>
          </a:xfrm>
          <a:custGeom>
            <a:avLst/>
            <a:gdLst/>
            <a:ahLst/>
            <a:cxnLst/>
            <a:rect r="r" b="b" t="t" l="l"/>
            <a:pathLst>
              <a:path h="3383875" w="3282359">
                <a:moveTo>
                  <a:pt x="0" y="0"/>
                </a:moveTo>
                <a:lnTo>
                  <a:pt x="3282360" y="0"/>
                </a:lnTo>
                <a:lnTo>
                  <a:pt x="3282360" y="3383875"/>
                </a:lnTo>
                <a:lnTo>
                  <a:pt x="0" y="3383875"/>
                </a:lnTo>
                <a:lnTo>
                  <a:pt x="0" y="0"/>
                </a:lnTo>
                <a:close/>
              </a:path>
            </a:pathLst>
          </a:custGeom>
          <a:blipFill>
            <a:blip r:embed="rId5"/>
            <a:stretch>
              <a:fillRect l="0" t="0" r="0" b="0"/>
            </a:stretch>
          </a:blipFill>
        </p:spPr>
      </p:sp>
      <p:sp>
        <p:nvSpPr>
          <p:cNvPr name="Freeform 10" id="10"/>
          <p:cNvSpPr/>
          <p:nvPr/>
        </p:nvSpPr>
        <p:spPr>
          <a:xfrm flipH="false" flipV="false" rot="0">
            <a:off x="-1019123" y="0"/>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5"/>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3525822" y="1922835"/>
            <a:ext cx="11236357" cy="0"/>
          </a:xfrm>
          <a:prstGeom prst="line">
            <a:avLst/>
          </a:prstGeom>
          <a:ln cap="rnd" w="19050">
            <a:solidFill>
              <a:srgbClr val="10B5BF"/>
            </a:solidFill>
            <a:prstDash val="solid"/>
            <a:headEnd type="none" len="sm" w="sm"/>
            <a:tailEnd type="none" len="sm" w="sm"/>
          </a:ln>
        </p:spPr>
      </p:sp>
      <p:sp>
        <p:nvSpPr>
          <p:cNvPr name="TextBox 3" id="3"/>
          <p:cNvSpPr txBox="true"/>
          <p:nvPr/>
        </p:nvSpPr>
        <p:spPr>
          <a:xfrm rot="0">
            <a:off x="3058136" y="3008381"/>
            <a:ext cx="12171729" cy="5762625"/>
          </a:xfrm>
          <a:prstGeom prst="rect">
            <a:avLst/>
          </a:prstGeom>
        </p:spPr>
        <p:txBody>
          <a:bodyPr anchor="t" rtlCol="false" tIns="0" lIns="0" bIns="0" rIns="0">
            <a:spAutoFit/>
          </a:bodyPr>
          <a:lstStyle/>
          <a:p>
            <a:pPr algn="ctr">
              <a:lnSpc>
                <a:spcPts val="4199"/>
              </a:lnSpc>
            </a:pPr>
            <a:r>
              <a:rPr lang="en-US" sz="2999">
                <a:solidFill>
                  <a:srgbClr val="FFFFFF"/>
                </a:solidFill>
                <a:latin typeface="Poppins Light"/>
                <a:ea typeface="Poppins Light"/>
                <a:cs typeface="Poppins Light"/>
                <a:sym typeface="Poppins Light"/>
              </a:rPr>
              <a:t>Berdasarkan hasil EDA, preprocessing, dan pemodelan, data berhasil dipersiapkan untuk memprediksi harga rumah (SalePrice). Dari hasil EDA, OverallQual dan GrLivArea terlihat memiliki hubungan yang cukup kuat dengan harga rumah. Setelah data melalui proses preprocessing, model Linear Regression menghasilkan nilai R² sebesar 0,9994 pada data testing. Secara keseluruhan, model mampu menghasilkan prediksi yang cukup baik dan sebagian besar hasil prediksi mendekati nilai aktual, meskipun masih terdapat beberapa data dengan selisih prediksi yang cukup jauh.</a:t>
            </a:r>
          </a:p>
          <a:p>
            <a:pPr algn="ctr">
              <a:lnSpc>
                <a:spcPts val="4199"/>
              </a:lnSpc>
            </a:pPr>
          </a:p>
        </p:txBody>
      </p:sp>
      <p:sp>
        <p:nvSpPr>
          <p:cNvPr name="TextBox 4" id="4"/>
          <p:cNvSpPr txBox="true"/>
          <p:nvPr/>
        </p:nvSpPr>
        <p:spPr>
          <a:xfrm rot="0">
            <a:off x="6970384" y="305392"/>
            <a:ext cx="4764951" cy="981075"/>
          </a:xfrm>
          <a:prstGeom prst="rect">
            <a:avLst/>
          </a:prstGeom>
        </p:spPr>
        <p:txBody>
          <a:bodyPr anchor="t" rtlCol="false" tIns="0" lIns="0" bIns="0" rIns="0">
            <a:spAutoFit/>
          </a:bodyPr>
          <a:lstStyle/>
          <a:p>
            <a:pPr algn="l">
              <a:lnSpc>
                <a:spcPts val="7200"/>
              </a:lnSpc>
            </a:pPr>
            <a:r>
              <a:rPr lang="en-US" sz="6000" b="true">
                <a:solidFill>
                  <a:srgbClr val="FFFFFF"/>
                </a:solidFill>
                <a:latin typeface="Poppins Semi-Bold"/>
                <a:ea typeface="Poppins Semi-Bold"/>
                <a:cs typeface="Poppins Semi-Bold"/>
                <a:sym typeface="Poppins Semi-Bold"/>
              </a:rPr>
              <a:t>Kesimpulan</a:t>
            </a:r>
          </a:p>
        </p:txBody>
      </p:sp>
      <p:sp>
        <p:nvSpPr>
          <p:cNvPr name="Freeform 5" id="5"/>
          <p:cNvSpPr/>
          <p:nvPr/>
        </p:nvSpPr>
        <p:spPr>
          <a:xfrm flipH="false" flipV="false" rot="0">
            <a:off x="16029356" y="-1120438"/>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2"/>
            <a:stretch>
              <a:fillRect l="0" t="0" r="0" b="0"/>
            </a:stretch>
          </a:blipFill>
        </p:spPr>
      </p:sp>
      <p:sp>
        <p:nvSpPr>
          <p:cNvPr name="Freeform 6" id="6"/>
          <p:cNvSpPr/>
          <p:nvPr/>
        </p:nvSpPr>
        <p:spPr>
          <a:xfrm flipH="false" flipV="false" rot="0">
            <a:off x="16646820" y="2543919"/>
            <a:ext cx="3282359" cy="3383875"/>
          </a:xfrm>
          <a:custGeom>
            <a:avLst/>
            <a:gdLst/>
            <a:ahLst/>
            <a:cxnLst/>
            <a:rect r="r" b="b" t="t" l="l"/>
            <a:pathLst>
              <a:path h="3383875" w="3282359">
                <a:moveTo>
                  <a:pt x="0" y="0"/>
                </a:moveTo>
                <a:lnTo>
                  <a:pt x="3282360" y="0"/>
                </a:lnTo>
                <a:lnTo>
                  <a:pt x="3282360" y="3383875"/>
                </a:lnTo>
                <a:lnTo>
                  <a:pt x="0" y="3383875"/>
                </a:lnTo>
                <a:lnTo>
                  <a:pt x="0" y="0"/>
                </a:lnTo>
                <a:close/>
              </a:path>
            </a:pathLst>
          </a:custGeom>
          <a:blipFill>
            <a:blip r:embed="rId2"/>
            <a:stretch>
              <a:fillRect l="0" t="0" r="0" b="0"/>
            </a:stretch>
          </a:blipFill>
        </p:spPr>
      </p:sp>
      <p:sp>
        <p:nvSpPr>
          <p:cNvPr name="Freeform 7" id="7"/>
          <p:cNvSpPr/>
          <p:nvPr/>
        </p:nvSpPr>
        <p:spPr>
          <a:xfrm flipH="false" flipV="false" rot="0">
            <a:off x="-1019123" y="0"/>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DAHXG8g4ikQ</dc:identifier>
  <dcterms:modified xsi:type="dcterms:W3CDTF">2011-08-01T06:04:30Z</dcterms:modified>
  <cp:revision>1</cp:revision>
  <dc:title>Presentasi Teknologi 5G Elemen 3D Biru</dc:title>
</cp:coreProperties>
</file>