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grandir Bold" charset="1" panose="00000800000000000000"/>
      <p:regular r:id="rId27"/>
    </p:embeddedFont>
    <p:embeddedFont>
      <p:font typeface="Poppins" charset="1" panose="00000500000000000000"/>
      <p:regular r:id="rId28"/>
    </p:embeddedFont>
    <p:embeddedFont>
      <p:font typeface="Agrandir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673460" y="-684023"/>
            <a:ext cx="13020185" cy="12527254"/>
          </a:xfrm>
          <a:custGeom>
            <a:avLst/>
            <a:gdLst/>
            <a:ahLst/>
            <a:cxnLst/>
            <a:rect r="r" b="b" t="t" l="l"/>
            <a:pathLst>
              <a:path h="12527254" w="13020185">
                <a:moveTo>
                  <a:pt x="0" y="0"/>
                </a:moveTo>
                <a:lnTo>
                  <a:pt x="13020185" y="0"/>
                </a:lnTo>
                <a:lnTo>
                  <a:pt x="13020185" y="12527254"/>
                </a:lnTo>
                <a:lnTo>
                  <a:pt x="0" y="125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1856" y="5517874"/>
            <a:ext cx="3396272" cy="2547204"/>
          </a:xfrm>
          <a:custGeom>
            <a:avLst/>
            <a:gdLst/>
            <a:ahLst/>
            <a:cxnLst/>
            <a:rect r="r" b="b" t="t" l="l"/>
            <a:pathLst>
              <a:path h="2547204" w="3396272">
                <a:moveTo>
                  <a:pt x="0" y="0"/>
                </a:moveTo>
                <a:lnTo>
                  <a:pt x="3396273" y="0"/>
                </a:lnTo>
                <a:lnTo>
                  <a:pt x="3396273" y="2547205"/>
                </a:lnTo>
                <a:lnTo>
                  <a:pt x="0" y="2547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28345" y="5698940"/>
            <a:ext cx="3342745" cy="2147713"/>
          </a:xfrm>
          <a:custGeom>
            <a:avLst/>
            <a:gdLst/>
            <a:ahLst/>
            <a:cxnLst/>
            <a:rect r="r" b="b" t="t" l="l"/>
            <a:pathLst>
              <a:path h="2147713" w="3342745">
                <a:moveTo>
                  <a:pt x="0" y="0"/>
                </a:moveTo>
                <a:lnTo>
                  <a:pt x="3342745" y="0"/>
                </a:lnTo>
                <a:lnTo>
                  <a:pt x="3342745" y="2147713"/>
                </a:lnTo>
                <a:lnTo>
                  <a:pt x="0" y="2147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2022" y="1824506"/>
            <a:ext cx="15071865" cy="195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0"/>
              </a:lnSpc>
            </a:pPr>
            <a:r>
              <a:rPr lang="en-US" b="true" sz="6591" spc="-26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ANALISIS EDA, PREPROCESSING, DAN REGRESI</a:t>
            </a:r>
            <a:r>
              <a:rPr lang="en-US" b="true" sz="6591" spc="-26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LINEAR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2745" y="4519285"/>
            <a:ext cx="11390420" cy="193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4"/>
              </a:lnSpc>
            </a:pPr>
            <a:r>
              <a:rPr lang="en-US" b="true" sz="4508" spc="-1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b="true" sz="4508" spc="-18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enerapan Exploratory Data Analysis, Data Preprocessing, dan Linear Regression pada Dataset House Prices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99187" y="7070316"/>
            <a:ext cx="8489626" cy="994763"/>
            <a:chOff x="0" y="0"/>
            <a:chExt cx="3468349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68349" cy="406400"/>
            </a:xfrm>
            <a:custGeom>
              <a:avLst/>
              <a:gdLst/>
              <a:ahLst/>
              <a:cxnLst/>
              <a:rect r="r" b="b" t="t" l="l"/>
              <a:pathLst>
                <a:path h="406400" w="3468349">
                  <a:moveTo>
                    <a:pt x="3265149" y="0"/>
                  </a:moveTo>
                  <a:cubicBezTo>
                    <a:pt x="3377373" y="0"/>
                    <a:pt x="3468349" y="90976"/>
                    <a:pt x="3468349" y="203200"/>
                  </a:cubicBezTo>
                  <a:cubicBezTo>
                    <a:pt x="3468349" y="315424"/>
                    <a:pt x="3377373" y="406400"/>
                    <a:pt x="32651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3D6FF"/>
            </a:solidFill>
            <a:ln w="76200" cap="sq">
              <a:solidFill>
                <a:srgbClr val="0D366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683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3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148861" y="7362583"/>
            <a:ext cx="7998188" cy="37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7"/>
              </a:lnSpc>
            </a:pPr>
            <a:r>
              <a:rPr lang="en-US" sz="2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Disusun Oleh: Rifa’ah Fatihatu Sa’adah(2488010008)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120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915938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35115" y="295272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940" y="535300"/>
            <a:ext cx="16029644" cy="121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8"/>
              </a:lnSpc>
            </a:pPr>
            <a:r>
              <a:rPr lang="en-US" b="true" sz="7322" spc="-29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INFORM</a:t>
            </a:r>
            <a:r>
              <a:rPr lang="en-US" b="true" sz="7322" spc="-29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ASI &amp; PROFIL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6205" y="1633453"/>
            <a:ext cx="10663500" cy="125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17"/>
              </a:lnSpc>
            </a:pPr>
            <a:r>
              <a:rPr lang="en-US" b="true" sz="7540" spc="-3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Hous</a:t>
            </a:r>
            <a:r>
              <a:rPr lang="en-US" b="true" sz="7540" spc="-3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 Prices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2507" y="2841973"/>
            <a:ext cx="9302985" cy="87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ataset terdiri dari: 1.460 baris data, 81 kolom,</a:t>
            </a:r>
          </a:p>
          <a:p>
            <a:pPr algn="ctr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80 variabel prediktor , 1 target variable yaitu SalePrice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673" y="3864610"/>
            <a:ext cx="16284327" cy="642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Struktur F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itur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OverallQual  : kualitas keseluruhan material dan finishing rumah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GrLivArea : luas area hunian di atas tanah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GarageCars : kapasitas mobil pada garasi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GarageArea : luas garasi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TotalBsmtSF : luas total basement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1stFlrSF : luas lantai pertama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FullBath : jumlah kamar mandi penuh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YearBuilt : tahun pembangunan rumah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YearRemodAdd : tahun renovasi rumah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SalePrice : harga jual rumah (target)</a:t>
            </a:r>
          </a:p>
          <a:p>
            <a:pPr algn="l" marL="0" indent="0" lvl="0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OverallQual merepresentasikan kualitas material dan finishing rumah, sedangkan GrLivArea merupakan luas area hunian di atas tanah.</a:t>
            </a:r>
          </a:p>
          <a:p>
            <a:pPr algn="l" marL="0" indent="0" lvl="0">
              <a:lnSpc>
                <a:spcPts val="363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947715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284327" y="924012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6284327" y="-965887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009709" y="-178568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3"/>
                </a:lnTo>
                <a:lnTo>
                  <a:pt x="0" y="11926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00851" y="-178568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3"/>
                </a:lnTo>
                <a:lnTo>
                  <a:pt x="0" y="11926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1836" y="802998"/>
            <a:ext cx="16275088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8000" spc="-3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Al</a:t>
            </a:r>
            <a:r>
              <a:rPr lang="en-US" b="true" sz="8000" spc="-3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ur Pengolahan dan Pemodelan Data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0" y="3052446"/>
            <a:ext cx="8142164" cy="3192555"/>
            <a:chOff x="0" y="0"/>
            <a:chExt cx="2144438" cy="8408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4438" cy="840837"/>
            </a:xfrm>
            <a:custGeom>
              <a:avLst/>
              <a:gdLst/>
              <a:ahLst/>
              <a:cxnLst/>
              <a:rect r="r" b="b" t="t" l="l"/>
              <a:pathLst>
                <a:path h="840837" w="2144438">
                  <a:moveTo>
                    <a:pt x="28525" y="0"/>
                  </a:moveTo>
                  <a:lnTo>
                    <a:pt x="2115913" y="0"/>
                  </a:lnTo>
                  <a:cubicBezTo>
                    <a:pt x="2131667" y="0"/>
                    <a:pt x="2144438" y="12771"/>
                    <a:pt x="2144438" y="28525"/>
                  </a:cubicBezTo>
                  <a:lnTo>
                    <a:pt x="2144438" y="812312"/>
                  </a:lnTo>
                  <a:cubicBezTo>
                    <a:pt x="2144438" y="828066"/>
                    <a:pt x="2131667" y="840837"/>
                    <a:pt x="2115913" y="840837"/>
                  </a:cubicBezTo>
                  <a:lnTo>
                    <a:pt x="28525" y="840837"/>
                  </a:lnTo>
                  <a:cubicBezTo>
                    <a:pt x="12771" y="840837"/>
                    <a:pt x="0" y="828066"/>
                    <a:pt x="0" y="812312"/>
                  </a:cubicBezTo>
                  <a:lnTo>
                    <a:pt x="0" y="28525"/>
                  </a:lnTo>
                  <a:cubicBezTo>
                    <a:pt x="0" y="12771"/>
                    <a:pt x="12771" y="0"/>
                    <a:pt x="28525" y="0"/>
                  </a:cubicBezTo>
                  <a:close/>
                </a:path>
              </a:pathLst>
            </a:custGeom>
            <a:solidFill>
              <a:srgbClr val="80D0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44438" cy="878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92366" y="6549800"/>
            <a:ext cx="8894029" cy="3345404"/>
            <a:chOff x="0" y="0"/>
            <a:chExt cx="2342460" cy="8810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460" cy="881094"/>
            </a:xfrm>
            <a:custGeom>
              <a:avLst/>
              <a:gdLst/>
              <a:ahLst/>
              <a:cxnLst/>
              <a:rect r="r" b="b" t="t" l="l"/>
              <a:pathLst>
                <a:path h="881094" w="2342460">
                  <a:moveTo>
                    <a:pt x="26114" y="0"/>
                  </a:moveTo>
                  <a:lnTo>
                    <a:pt x="2316346" y="0"/>
                  </a:lnTo>
                  <a:cubicBezTo>
                    <a:pt x="2330769" y="0"/>
                    <a:pt x="2342460" y="11692"/>
                    <a:pt x="2342460" y="26114"/>
                  </a:cubicBezTo>
                  <a:lnTo>
                    <a:pt x="2342460" y="854980"/>
                  </a:lnTo>
                  <a:cubicBezTo>
                    <a:pt x="2342460" y="869403"/>
                    <a:pt x="2330769" y="881094"/>
                    <a:pt x="2316346" y="881094"/>
                  </a:cubicBezTo>
                  <a:lnTo>
                    <a:pt x="26114" y="881094"/>
                  </a:lnTo>
                  <a:cubicBezTo>
                    <a:pt x="19188" y="881094"/>
                    <a:pt x="12546" y="878343"/>
                    <a:pt x="7649" y="873446"/>
                  </a:cubicBezTo>
                  <a:cubicBezTo>
                    <a:pt x="2751" y="868548"/>
                    <a:pt x="0" y="861906"/>
                    <a:pt x="0" y="854980"/>
                  </a:cubicBezTo>
                  <a:lnTo>
                    <a:pt x="0" y="26114"/>
                  </a:lnTo>
                  <a:cubicBezTo>
                    <a:pt x="0" y="11692"/>
                    <a:pt x="11692" y="0"/>
                    <a:pt x="26114" y="0"/>
                  </a:cubicBezTo>
                  <a:close/>
                </a:path>
              </a:pathLst>
            </a:custGeom>
            <a:solidFill>
              <a:srgbClr val="122D68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42460" cy="919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052446"/>
            <a:ext cx="7760764" cy="3192555"/>
            <a:chOff x="0" y="0"/>
            <a:chExt cx="2043987" cy="840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3987" cy="840837"/>
            </a:xfrm>
            <a:custGeom>
              <a:avLst/>
              <a:gdLst/>
              <a:ahLst/>
              <a:cxnLst/>
              <a:rect r="r" b="b" t="t" l="l"/>
              <a:pathLst>
                <a:path h="840837" w="2043987">
                  <a:moveTo>
                    <a:pt x="29927" y="0"/>
                  </a:moveTo>
                  <a:lnTo>
                    <a:pt x="2014060" y="0"/>
                  </a:lnTo>
                  <a:cubicBezTo>
                    <a:pt x="2030588" y="0"/>
                    <a:pt x="2043987" y="13399"/>
                    <a:pt x="2043987" y="29927"/>
                  </a:cubicBezTo>
                  <a:lnTo>
                    <a:pt x="2043987" y="810910"/>
                  </a:lnTo>
                  <a:cubicBezTo>
                    <a:pt x="2043987" y="827439"/>
                    <a:pt x="2030588" y="840837"/>
                    <a:pt x="2014060" y="840837"/>
                  </a:cubicBezTo>
                  <a:lnTo>
                    <a:pt x="29927" y="840837"/>
                  </a:lnTo>
                  <a:cubicBezTo>
                    <a:pt x="13399" y="840837"/>
                    <a:pt x="0" y="827439"/>
                    <a:pt x="0" y="810910"/>
                  </a:cubicBezTo>
                  <a:lnTo>
                    <a:pt x="0" y="29927"/>
                  </a:lnTo>
                  <a:cubicBezTo>
                    <a:pt x="0" y="13399"/>
                    <a:pt x="13399" y="0"/>
                    <a:pt x="29927" y="0"/>
                  </a:cubicBezTo>
                  <a:close/>
                </a:path>
              </a:pathLst>
            </a:custGeom>
            <a:solidFill>
              <a:srgbClr val="E3D6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43987" cy="878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42378" y="3821623"/>
            <a:ext cx="7281799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analisis Struktur dan karakteristik dataset, Distribusi SalePrice, Missing value, Fitur numerik dan kategorikal, Hubungan fitur dengan harga rumah, Korelasi antarvariabel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48829" y="3782623"/>
            <a:ext cx="7532506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Menan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gani missing value, Memisahkan fitur dan target, Menghapus Id, Encoding variabel kategorikal, Membagi data menjadi data latih dan data uji, Scaling fitur sesuai kebutuhan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9082" y="7295925"/>
            <a:ext cx="8306000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Melatih model Linear Regression, Melakukan prediksi SalePrice, Mengevaluasi model menggunakan: MSE, RMSE, R². Menganalisis residual dan actual vs predicted, Alur regresi tersebut sesuai dengan tujuan praktikum regresi pada modul, termasuk training, koefisien, MSE, RMSE, dan R².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2378" y="3174723"/>
            <a:ext cx="7559222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b="true" sz="3200" spc="-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01 Exploratory </a:t>
            </a:r>
            <a:r>
              <a:rPr lang="en-US" b="true" sz="3200" spc="-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Analysis (EDA)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14322" y="3174723"/>
            <a:ext cx="466695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b="true" sz="3200" spc="-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02 Data Prepr</a:t>
            </a:r>
            <a:r>
              <a:rPr lang="en-US" b="true" sz="3200" spc="-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21989" y="6762703"/>
            <a:ext cx="6084369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b="true" sz="3200" spc="-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  Regresi Lin</a:t>
            </a:r>
            <a:r>
              <a:rPr lang="en-US" b="true" sz="3200" spc="-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ear &amp; Evaluasi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-919686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800000">
            <a:off x="16284327" y="924012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6284327" y="-93785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148493" y="-8055016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2" y="0"/>
                </a:lnTo>
                <a:lnTo>
                  <a:pt x="11689682" y="13672144"/>
                </a:lnTo>
                <a:lnTo>
                  <a:pt x="0" y="1367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829514" y="5747647"/>
            <a:ext cx="9149633" cy="10701325"/>
          </a:xfrm>
          <a:custGeom>
            <a:avLst/>
            <a:gdLst/>
            <a:ahLst/>
            <a:cxnLst/>
            <a:rect r="r" b="b" t="t" l="l"/>
            <a:pathLst>
              <a:path h="10701325" w="9149633">
                <a:moveTo>
                  <a:pt x="0" y="0"/>
                </a:moveTo>
                <a:lnTo>
                  <a:pt x="9149634" y="0"/>
                </a:lnTo>
                <a:lnTo>
                  <a:pt x="9149634" y="10701325"/>
                </a:lnTo>
                <a:lnTo>
                  <a:pt x="0" y="1070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1836" y="1819866"/>
            <a:ext cx="4764099" cy="5612062"/>
          </a:xfrm>
          <a:custGeom>
            <a:avLst/>
            <a:gdLst/>
            <a:ahLst/>
            <a:cxnLst/>
            <a:rect r="r" b="b" t="t" l="l"/>
            <a:pathLst>
              <a:path h="5612062" w="4764099">
                <a:moveTo>
                  <a:pt x="0" y="0"/>
                </a:moveTo>
                <a:lnTo>
                  <a:pt x="4764099" y="0"/>
                </a:lnTo>
                <a:lnTo>
                  <a:pt x="4764099" y="5612062"/>
                </a:lnTo>
                <a:lnTo>
                  <a:pt x="0" y="5612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98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146" y="1720182"/>
            <a:ext cx="9717902" cy="6026830"/>
          </a:xfrm>
          <a:custGeom>
            <a:avLst/>
            <a:gdLst/>
            <a:ahLst/>
            <a:cxnLst/>
            <a:rect r="r" b="b" t="t" l="l"/>
            <a:pathLst>
              <a:path h="6026830" w="9717902">
                <a:moveTo>
                  <a:pt x="0" y="0"/>
                </a:moveTo>
                <a:lnTo>
                  <a:pt x="9717902" y="0"/>
                </a:lnTo>
                <a:lnTo>
                  <a:pt x="9717902" y="6026829"/>
                </a:lnTo>
                <a:lnTo>
                  <a:pt x="0" y="60268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3848" y="664229"/>
            <a:ext cx="1429048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9"/>
              </a:lnSpc>
            </a:pPr>
            <a:r>
              <a:rPr lang="en-US" b="true" sz="5599" spc="-2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EDA: ANALISIS UNIVARIAT SALEPRICE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2999" y="7918461"/>
            <a:ext cx="15073165" cy="21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Distribusi SalePrice menunjukkan rentang harga yang cukup lebar. Sebagian besar rumah berada pada kelompok harga rendah hingga menengah, sementara terdapat beberapa rumah dengan harga sangat tinggi.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Hal tersebut menunjukkan adanya variasi harga yang cukup besar dan kemungkinan adanya nilai ekstrem pada rumah dengan karakteristik premium.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310317" y="-8224043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949804" y="5747647"/>
            <a:ext cx="9149633" cy="10701325"/>
          </a:xfrm>
          <a:custGeom>
            <a:avLst/>
            <a:gdLst/>
            <a:ahLst/>
            <a:cxnLst/>
            <a:rect r="r" b="b" t="t" l="l"/>
            <a:pathLst>
              <a:path h="10701325" w="9149633">
                <a:moveTo>
                  <a:pt x="0" y="0"/>
                </a:moveTo>
                <a:lnTo>
                  <a:pt x="9149634" y="0"/>
                </a:lnTo>
                <a:lnTo>
                  <a:pt x="9149634" y="10701325"/>
                </a:lnTo>
                <a:lnTo>
                  <a:pt x="0" y="1070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9853" y="916111"/>
            <a:ext cx="11768294" cy="95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6"/>
              </a:lnSpc>
            </a:pPr>
            <a:r>
              <a:rPr lang="en-US" b="true" sz="5729" spc="-2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EDA: ANALISIS FITUR NUMERIK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3734" y="2131152"/>
            <a:ext cx="16302399" cy="682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FITUR OVERALLQUAL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</a:t>
            </a: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erallQual merupakan penilaian kualitas keseluruhan material dan finishing rumah.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Interpretasi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OverallQual menunjukkan hubungan yang sangat kuat dengan SalePrice, dengan korelasi sebesar 0,79.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Hal ini menunjukkan bahwa semakin tinggi kualitas material dan finishing rumah, semakin besar kecenderungan harga jual rumah.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FITUR GRLIVAREA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GrLivArea merupakan luas area hunian di atas tanah.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Interpretasi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GrLivArea memiliki korelasi sebesar 0,71 terhadap SalePrice. Rumah dengan luas area hunian yang lebih besar cenderung memiliki harga jual yang lebih tinggi.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16010982" y="8273414"/>
            <a:ext cx="2900724" cy="404089"/>
            <a:chOff x="0" y="0"/>
            <a:chExt cx="3867632" cy="538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77159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27161" y="2003673"/>
            <a:ext cx="3143980" cy="7373768"/>
          </a:xfrm>
          <a:custGeom>
            <a:avLst/>
            <a:gdLst/>
            <a:ahLst/>
            <a:cxnLst/>
            <a:rect r="r" b="b" t="t" l="l"/>
            <a:pathLst>
              <a:path h="7373768" w="3143980">
                <a:moveTo>
                  <a:pt x="0" y="0"/>
                </a:moveTo>
                <a:lnTo>
                  <a:pt x="3143981" y="0"/>
                </a:lnTo>
                <a:lnTo>
                  <a:pt x="3143981" y="7373768"/>
                </a:lnTo>
                <a:lnTo>
                  <a:pt x="0" y="7373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00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8760" y="942975"/>
            <a:ext cx="11690480" cy="97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17"/>
              </a:lnSpc>
            </a:pPr>
            <a:r>
              <a:rPr lang="en-US" b="true" sz="5921" spc="-23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EDA:</a:t>
            </a:r>
            <a:r>
              <a:rPr lang="en-US" b="true" sz="5921" spc="-23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FITUR DENGAN KORELASI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94143"/>
            <a:ext cx="9435183" cy="263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9"/>
              </a:lnSpc>
            </a:pPr>
            <a:r>
              <a:rPr lang="en-US" sz="31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Berdasarkan has</a:t>
            </a:r>
            <a:r>
              <a:rPr lang="en-US" sz="31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il korelasi, OverallQual merupakan variabel yang paling kuat hubungannya dengan harga rumah, diikuti oleh luas area hunian (GrLivArea) dan karakteristik garasi serta basement.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148493" y="-8055016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2" y="0"/>
                </a:lnTo>
                <a:lnTo>
                  <a:pt x="11689682" y="13672144"/>
                </a:lnTo>
                <a:lnTo>
                  <a:pt x="0" y="1367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3943" y="5747647"/>
            <a:ext cx="9149633" cy="10701325"/>
          </a:xfrm>
          <a:custGeom>
            <a:avLst/>
            <a:gdLst/>
            <a:ahLst/>
            <a:cxnLst/>
            <a:rect r="r" b="b" t="t" l="l"/>
            <a:pathLst>
              <a:path h="10701325" w="9149633">
                <a:moveTo>
                  <a:pt x="0" y="0"/>
                </a:moveTo>
                <a:lnTo>
                  <a:pt x="9149634" y="0"/>
                </a:lnTo>
                <a:lnTo>
                  <a:pt x="9149634" y="10701325"/>
                </a:lnTo>
                <a:lnTo>
                  <a:pt x="0" y="1070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256464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2"/>
                </a:lnTo>
                <a:lnTo>
                  <a:pt x="0" y="2003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5382044" y="6523493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2" y="0"/>
                </a:lnTo>
                <a:lnTo>
                  <a:pt x="2003672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792583" y="9071350"/>
            <a:ext cx="2900724" cy="404089"/>
            <a:chOff x="0" y="0"/>
            <a:chExt cx="3867632" cy="5387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77159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64355" y="1481003"/>
            <a:ext cx="6313367" cy="4005254"/>
          </a:xfrm>
          <a:custGeom>
            <a:avLst/>
            <a:gdLst/>
            <a:ahLst/>
            <a:cxnLst/>
            <a:rect r="r" b="b" t="t" l="l"/>
            <a:pathLst>
              <a:path h="4005254" w="6313367">
                <a:moveTo>
                  <a:pt x="0" y="0"/>
                </a:moveTo>
                <a:lnTo>
                  <a:pt x="6313367" y="0"/>
                </a:lnTo>
                <a:lnTo>
                  <a:pt x="6313367" y="4005254"/>
                </a:lnTo>
                <a:lnTo>
                  <a:pt x="0" y="4005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4355" y="5696314"/>
            <a:ext cx="6335586" cy="4262750"/>
          </a:xfrm>
          <a:custGeom>
            <a:avLst/>
            <a:gdLst/>
            <a:ahLst/>
            <a:cxnLst/>
            <a:rect r="r" b="b" t="t" l="l"/>
            <a:pathLst>
              <a:path h="4262750" w="6335586">
                <a:moveTo>
                  <a:pt x="0" y="0"/>
                </a:moveTo>
                <a:lnTo>
                  <a:pt x="6335586" y="0"/>
                </a:lnTo>
                <a:lnTo>
                  <a:pt x="6335586" y="4262750"/>
                </a:lnTo>
                <a:lnTo>
                  <a:pt x="0" y="4262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46" r="0" b="-184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45976" y="-87630"/>
            <a:ext cx="8865086" cy="213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</a:pPr>
            <a:r>
              <a:rPr lang="en-US" b="true" sz="7200" spc="-28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EDA:</a:t>
            </a:r>
            <a:r>
              <a:rPr lang="en-US" b="true" sz="7200" spc="-28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ANALISIS BIVARIAT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85716" y="2002155"/>
            <a:ext cx="8924613" cy="344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1. HUBUNGAN OVERALLQUAL DAN SALEPRICE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Scatt</a:t>
            </a: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er/box plot menunjukkan: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Terdapat kecenderungan peningkatan SalePrice seiring dengan meningkatnya OverallQual.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Rumah dengan kualitas rendah cenderung memiliki harga lebih rendah, sedangkan rumah dengan kualitas tinggi memiliki rentang harga yang lebih tinggi.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26843" y="6243796"/>
            <a:ext cx="8924613" cy="301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2. HUBUNGAN GRLIVAREA DAN SALEPRICE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Terdapat hubungan positif yang cukup kuat. Semakin besar luas area hunian, harga rumah cenderung meningkat.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Namun, terdapat beberapa titik yang menyimpang dari pola umum sehingga menunjukkan adanya outlier atau rumah dengan karakteristik khusus.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51953" y="5832903"/>
            <a:ext cx="8846209" cy="10346443"/>
          </a:xfrm>
          <a:custGeom>
            <a:avLst/>
            <a:gdLst/>
            <a:ahLst/>
            <a:cxnLst/>
            <a:rect r="r" b="b" t="t" l="l"/>
            <a:pathLst>
              <a:path h="10346443" w="8846209">
                <a:moveTo>
                  <a:pt x="0" y="0"/>
                </a:moveTo>
                <a:lnTo>
                  <a:pt x="8846209" y="0"/>
                </a:lnTo>
                <a:lnTo>
                  <a:pt x="8846209" y="10346443"/>
                </a:lnTo>
                <a:lnTo>
                  <a:pt x="0" y="10346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47112" y="-771219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2" y="0"/>
                </a:lnTo>
                <a:lnTo>
                  <a:pt x="11689682" y="13672144"/>
                </a:lnTo>
                <a:lnTo>
                  <a:pt x="0" y="1367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7558" y="706979"/>
            <a:ext cx="1479538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0"/>
              </a:lnSpc>
            </a:pPr>
            <a:r>
              <a:rPr lang="en-US" b="true" sz="7000" spc="-28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EDA:</a:t>
            </a:r>
            <a:r>
              <a:rPr lang="en-US" b="true" sz="7000" spc="-28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FITUR GARASI &amp; BASEMENT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425" y="2326561"/>
            <a:ext cx="17091151" cy="558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GarageCars vs SalePrice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Korelasi GarageCars terhadap SalePrice sebesar 0,64. Rum</a:t>
            </a: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ah dengan kapasitas garasi lebih besar cenderung memiliki harga lebih tinggi.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GarageArea vs SalePrice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GarageArea memiliki korelasi 0,62, menunjukkan bahwa ukuran garasi juga berkaitan cukup kuat dengan harga rumah.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TotalBsmtSF vs SalePrice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Luas basement memiliki korelasi 0,61, sehingga rumah dengan basement yang lebih luas cenderung mempunyai nilai jual lebih tinggi.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Selain kualitas dan luas hunian, fasilitas tambahan seperti garasi dan basement juga menjadi indikator penting dalam harga rumah.</a:t>
            </a:r>
          </a:p>
          <a:p>
            <a:pPr algn="l" marL="0" indent="0" lvl="0">
              <a:lnSpc>
                <a:spcPts val="342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8256464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2"/>
                </a:lnTo>
                <a:lnTo>
                  <a:pt x="0" y="2003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120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915938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7940" y="535300"/>
            <a:ext cx="16029644" cy="121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8"/>
              </a:lnSpc>
            </a:pPr>
            <a:r>
              <a:rPr lang="en-US" b="true" sz="7322" spc="-29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MATRIKS KOREL</a:t>
            </a:r>
            <a:r>
              <a:rPr lang="en-US" b="true" sz="7322" spc="-29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ASI &amp; HEATMAP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947715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284327" y="924012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284327" y="-965887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2145" y="2102661"/>
            <a:ext cx="8017447" cy="6465364"/>
          </a:xfrm>
          <a:custGeom>
            <a:avLst/>
            <a:gdLst/>
            <a:ahLst/>
            <a:cxnLst/>
            <a:rect r="r" b="b" t="t" l="l"/>
            <a:pathLst>
              <a:path h="6465364" w="8017447">
                <a:moveTo>
                  <a:pt x="0" y="0"/>
                </a:moveTo>
                <a:lnTo>
                  <a:pt x="8017447" y="0"/>
                </a:lnTo>
                <a:lnTo>
                  <a:pt x="8017447" y="6465364"/>
                </a:lnTo>
                <a:lnTo>
                  <a:pt x="0" y="6465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35115" y="295272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02763" y="1948021"/>
            <a:ext cx="8483401" cy="733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asil Analisis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Korelasi paling kuat terhadap SalePrice ditemukan pada: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OverallQual → 0,79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GrLivArea → 0,71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GarageCars → 0,64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GarageArea → 0,62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TotalBsmtSF → 0,61</a:t>
            </a:r>
          </a:p>
          <a:p>
            <a:pPr algn="just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Interpretasi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Heatmap menunjukkan bahwa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variabel yang berkaitan dengan kualitas, luas bangunan, dan fasilitas rumah memiliki hubungan positif yang relatif kuat dengan harga jual.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Hasil korelasi ini menjadi dasar dalam memahami fitur yang berpotensi memberikan kontribusi besar terhadap model prediksi.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009709" y="-178568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3"/>
                </a:lnTo>
                <a:lnTo>
                  <a:pt x="0" y="11926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00851" y="-178568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3"/>
                </a:lnTo>
                <a:lnTo>
                  <a:pt x="0" y="11926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1836" y="831573"/>
            <a:ext cx="16275088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0"/>
              </a:lnSpc>
            </a:pPr>
            <a:r>
              <a:rPr lang="en-US" b="true" sz="7200" spc="-28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EDA: ANALISIS MISSING VALUE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919686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284327" y="924012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284327" y="-93785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02862" y="2740395"/>
            <a:ext cx="4883302" cy="6876486"/>
          </a:xfrm>
          <a:custGeom>
            <a:avLst/>
            <a:gdLst/>
            <a:ahLst/>
            <a:cxnLst/>
            <a:rect r="r" b="b" t="t" l="l"/>
            <a:pathLst>
              <a:path h="6876486" w="4883302">
                <a:moveTo>
                  <a:pt x="0" y="0"/>
                </a:moveTo>
                <a:lnTo>
                  <a:pt x="4883302" y="0"/>
                </a:lnTo>
                <a:lnTo>
                  <a:pt x="4883302" y="6876485"/>
                </a:lnTo>
                <a:lnTo>
                  <a:pt x="0" y="68764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80554" y="2222234"/>
            <a:ext cx="8070824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b="true" sz="3200" spc="-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Variabel dengan Missing</a:t>
            </a:r>
            <a:r>
              <a:rPr lang="en-US" b="true" sz="3200" spc="-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Value Terbesar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982" y="3263761"/>
            <a:ext cx="11318520" cy="582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Missing value pada dataset tidak selalu berarti data rusak. Pada beberapa variabel, nilai kosong menunjukkan bahwa rumah memang tidak memiliki fasilitas tersebut.</a:t>
            </a:r>
          </a:p>
          <a:p>
            <a:pPr algn="l">
              <a:lnSpc>
                <a:spcPts val="3780"/>
              </a:lnSpc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Contohnya:</a:t>
            </a:r>
          </a:p>
          <a:p>
            <a:pPr algn="l" marL="777240" indent="-388620" lvl="1">
              <a:lnSpc>
                <a:spcPts val="3780"/>
              </a:lnSpc>
              <a:buFont typeface="Arial"/>
              <a:buChar char="•"/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PoolQC kosong → tidak memiliki kolam</a:t>
            </a:r>
          </a:p>
          <a:p>
            <a:pPr algn="l" marL="777240" indent="-388620" lvl="1">
              <a:lnSpc>
                <a:spcPts val="3780"/>
              </a:lnSpc>
              <a:buFont typeface="Arial"/>
              <a:buChar char="•"/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FireplaceQu kosong → tidak memiliki fireplace</a:t>
            </a:r>
          </a:p>
          <a:p>
            <a:pPr algn="l" marL="777240" indent="-388620" lvl="1">
              <a:lnSpc>
                <a:spcPts val="3780"/>
              </a:lnSpc>
              <a:buFont typeface="Arial"/>
              <a:buChar char="•"/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beberapa fitur garasi kosong</a:t>
            </a: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→ tidak memiliki garasi</a:t>
            </a:r>
          </a:p>
          <a:p>
            <a:pPr algn="l" marL="0" indent="0" lvl="0">
              <a:lnSpc>
                <a:spcPts val="3780"/>
              </a:lnSpc>
            </a:pPr>
            <a:r>
              <a:rPr lang="en-US" sz="3600" spc="-1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Dokumentasi dataset memang mendefinisikan NA pada beberapa fitur sebagai kondisi tidak adanya fasilitas, misalnya FireplaceQu dan fitur-fitur garage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310317" y="-8224043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949804" y="5747647"/>
            <a:ext cx="9149633" cy="10701325"/>
          </a:xfrm>
          <a:custGeom>
            <a:avLst/>
            <a:gdLst/>
            <a:ahLst/>
            <a:cxnLst/>
            <a:rect r="r" b="b" t="t" l="l"/>
            <a:pathLst>
              <a:path h="10701325" w="9149633">
                <a:moveTo>
                  <a:pt x="0" y="0"/>
                </a:moveTo>
                <a:lnTo>
                  <a:pt x="9149634" y="0"/>
                </a:lnTo>
                <a:lnTo>
                  <a:pt x="9149634" y="10701325"/>
                </a:lnTo>
                <a:lnTo>
                  <a:pt x="0" y="1070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3734" y="2121627"/>
            <a:ext cx="9491696" cy="710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PEMISAHAN FEATURE &amp; TARGET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eature (X):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Seluruh variabel karakteristik rumah yang digunakan untuk memprediksi harga.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(y):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SalePrice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Penghapusan Kolom</a:t>
            </a:r>
          </a:p>
          <a:p>
            <a:pPr algn="just" marL="0" indent="0" lvl="0">
              <a:lnSpc>
                <a:spcPts val="4680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Kolom Id dihapus karena hanya berfungsi sebagai identitas rumah dan tidak memberikan informasi karakteristik yang bermakna untuk prediksi harga.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6010982" y="8273414"/>
            <a:ext cx="2900724" cy="404089"/>
            <a:chOff x="0" y="0"/>
            <a:chExt cx="3867632" cy="538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77159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839659" y="2346573"/>
            <a:ext cx="6823730" cy="6598772"/>
          </a:xfrm>
          <a:custGeom>
            <a:avLst/>
            <a:gdLst/>
            <a:ahLst/>
            <a:cxnLst/>
            <a:rect r="r" b="b" t="t" l="l"/>
            <a:pathLst>
              <a:path h="6598772" w="6823730">
                <a:moveTo>
                  <a:pt x="0" y="0"/>
                </a:moveTo>
                <a:lnTo>
                  <a:pt x="6823730" y="0"/>
                </a:lnTo>
                <a:lnTo>
                  <a:pt x="6823730" y="6598771"/>
                </a:lnTo>
                <a:lnTo>
                  <a:pt x="0" y="65987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41812" y="884359"/>
            <a:ext cx="8804376" cy="95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6"/>
              </a:lnSpc>
            </a:pPr>
            <a:r>
              <a:rPr lang="en-US" b="true" sz="5729" spc="-2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PREPROCESSING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79020" y="2308473"/>
            <a:ext cx="6980280" cy="7399097"/>
          </a:xfrm>
          <a:custGeom>
            <a:avLst/>
            <a:gdLst/>
            <a:ahLst/>
            <a:cxnLst/>
            <a:rect r="r" b="b" t="t" l="l"/>
            <a:pathLst>
              <a:path h="7399097" w="6980280">
                <a:moveTo>
                  <a:pt x="0" y="0"/>
                </a:moveTo>
                <a:lnTo>
                  <a:pt x="6980280" y="0"/>
                </a:lnTo>
                <a:lnTo>
                  <a:pt x="6980280" y="7399096"/>
                </a:lnTo>
                <a:lnTo>
                  <a:pt x="0" y="7399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5271" y="865672"/>
            <a:ext cx="1471745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</a:t>
            </a: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ROCESSING: HANDLING MISSING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775" y="1832934"/>
            <a:ext cx="9245997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Penanganan Missing Value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Missing value kategorikal yang menunjukkan ketiadaan fas</a:t>
            </a: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ilitas diberi kategori khusus seperti None.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Missing value numerik ditangani menggunakan metode imputasi yang sesuai.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Missing value pada variabel yang benar-benar kosong ditangani menggunakan nilai statistik yang sesuai.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Tujuan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Menghasilkan dataset yang lengkap dan dapat diproses oleh algoritma machine learning tanpa kehilangan makna dari masing-masing variabel.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51953" y="5832903"/>
            <a:ext cx="8846209" cy="10346443"/>
          </a:xfrm>
          <a:custGeom>
            <a:avLst/>
            <a:gdLst/>
            <a:ahLst/>
            <a:cxnLst/>
            <a:rect r="r" b="b" t="t" l="l"/>
            <a:pathLst>
              <a:path h="10346443" w="8846209">
                <a:moveTo>
                  <a:pt x="0" y="0"/>
                </a:moveTo>
                <a:lnTo>
                  <a:pt x="8846209" y="0"/>
                </a:lnTo>
                <a:lnTo>
                  <a:pt x="8846209" y="10346443"/>
                </a:lnTo>
                <a:lnTo>
                  <a:pt x="0" y="10346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47112" y="-771219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2" y="0"/>
                </a:lnTo>
                <a:lnTo>
                  <a:pt x="11689682" y="13672144"/>
                </a:lnTo>
                <a:lnTo>
                  <a:pt x="0" y="13672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425" y="6338777"/>
            <a:ext cx="17091151" cy="172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Variabel kategorikal dikonversi menjadi bentuk numerik menggunakan One-Hot Encoding.</a:t>
            </a:r>
          </a:p>
          <a:p>
            <a:pPr algn="l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Tujuan</a:t>
            </a:r>
          </a:p>
          <a:p>
            <a:pPr algn="l" marL="0" indent="0" lvl="0">
              <a:lnSpc>
                <a:spcPts val="3428"/>
              </a:lnSpc>
            </a:pP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Mengubah data kategorikal menjadi representasi numerik sehingga dapat digunakan oleh algoritma Linear Regression, tanpa menganggap bahwa kateg</a:t>
            </a:r>
            <a:r>
              <a:rPr lang="en-US" sz="263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ori memiliki tingkatan tertentu.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256464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2"/>
                </a:lnTo>
                <a:lnTo>
                  <a:pt x="0" y="2003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042" y="2003673"/>
            <a:ext cx="17091151" cy="4144604"/>
          </a:xfrm>
          <a:custGeom>
            <a:avLst/>
            <a:gdLst/>
            <a:ahLst/>
            <a:cxnLst/>
            <a:rect r="r" b="b" t="t" l="l"/>
            <a:pathLst>
              <a:path h="4144604" w="17091151">
                <a:moveTo>
                  <a:pt x="0" y="0"/>
                </a:moveTo>
                <a:lnTo>
                  <a:pt x="17091151" y="0"/>
                </a:lnTo>
                <a:lnTo>
                  <a:pt x="17091151" y="4144604"/>
                </a:lnTo>
                <a:lnTo>
                  <a:pt x="0" y="4144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6908" y="935161"/>
            <a:ext cx="1450742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PREPROCESSING:</a:t>
            </a: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CATEGORICAL ENCODING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120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915938" y="-819617"/>
            <a:ext cx="10196929" cy="11926233"/>
          </a:xfrm>
          <a:custGeom>
            <a:avLst/>
            <a:gdLst/>
            <a:ahLst/>
            <a:cxnLst/>
            <a:rect r="r" b="b" t="t" l="l"/>
            <a:pathLst>
              <a:path h="11926233" w="10196929">
                <a:moveTo>
                  <a:pt x="0" y="0"/>
                </a:moveTo>
                <a:lnTo>
                  <a:pt x="10196929" y="0"/>
                </a:lnTo>
                <a:lnTo>
                  <a:pt x="10196929" y="11926234"/>
                </a:lnTo>
                <a:lnTo>
                  <a:pt x="0" y="11926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1836" y="535300"/>
            <a:ext cx="16029644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</a:pPr>
            <a:r>
              <a:rPr lang="en-US" b="true" sz="6399" spc="-25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PREPROCESSING: PEMB</a:t>
            </a:r>
            <a:r>
              <a:rPr lang="en-US" b="true" sz="6399" spc="-25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AGIAN DATA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947715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284327" y="9240128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284327" y="-965887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1985" y="2005171"/>
            <a:ext cx="6583658" cy="5220284"/>
          </a:xfrm>
          <a:custGeom>
            <a:avLst/>
            <a:gdLst/>
            <a:ahLst/>
            <a:cxnLst/>
            <a:rect r="r" b="b" t="t" l="l"/>
            <a:pathLst>
              <a:path h="5220284" w="6583658">
                <a:moveTo>
                  <a:pt x="0" y="0"/>
                </a:moveTo>
                <a:lnTo>
                  <a:pt x="6583658" y="0"/>
                </a:lnTo>
                <a:lnTo>
                  <a:pt x="6583658" y="5220285"/>
                </a:lnTo>
                <a:lnTo>
                  <a:pt x="0" y="5220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35115" y="295272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66735" y="1948021"/>
            <a:ext cx="9019429" cy="596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ataset train.csv dibagi menjadi: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80% → Data Training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Digunakan untuk melatih model da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 mempelajari hubungan ant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ara karakteristik rumah dengan SalePrice.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20% → Data Testing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Digunakan untuk menguji kemampuan model pada data yang tidak digunakan selama proses training.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Catatan</a:t>
            </a:r>
          </a:p>
          <a:p>
            <a:pPr algn="just" marL="0" indent="0" lvl="0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test.csv Kaggle tidak digunakan untuk evaluasi karena file tersebut tidak memiliki kolom SalePrice.</a:t>
            </a:r>
          </a:p>
          <a:p>
            <a:pPr algn="just" marL="0" indent="0" lvl="0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23728" y="1871832"/>
            <a:ext cx="9240544" cy="1273432"/>
          </a:xfrm>
          <a:custGeom>
            <a:avLst/>
            <a:gdLst/>
            <a:ahLst/>
            <a:cxnLst/>
            <a:rect r="r" b="b" t="t" l="l"/>
            <a:pathLst>
              <a:path h="1273432" w="9240544">
                <a:moveTo>
                  <a:pt x="0" y="0"/>
                </a:moveTo>
                <a:lnTo>
                  <a:pt x="9240544" y="0"/>
                </a:lnTo>
                <a:lnTo>
                  <a:pt x="9240544" y="1273432"/>
                </a:lnTo>
                <a:lnTo>
                  <a:pt x="0" y="1273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50098" y="808878"/>
            <a:ext cx="998780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</a:t>
            </a: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RESI LINEAR: PEMODELAN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5195" y="3312868"/>
            <a:ext cx="15457611" cy="533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PELATIHAN MODEL</a:t>
            </a:r>
          </a:p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yang digunakan: Multiple Linear Regression</a:t>
            </a:r>
          </a:p>
          <a:p>
            <a:pPr algn="l" marL="0" indent="0" lvl="0">
              <a:lnSpc>
                <a:spcPts val="4680"/>
              </a:lnSpc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mempelajari hubungan antara berbagai karakteristik rumah dengan Sa</a:t>
            </a: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lePrice.</a:t>
            </a:r>
          </a:p>
          <a:p>
            <a:pPr algn="l" marL="0" indent="0" lvl="0">
              <a:lnSpc>
                <a:spcPts val="4680"/>
              </a:lnSpc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Tahapan</a:t>
            </a:r>
          </a:p>
          <a:p>
            <a:pPr algn="l" marL="777240" indent="-388620" lvl="1">
              <a:lnSpc>
                <a:spcPts val="4680"/>
              </a:lnSpc>
              <a:buAutoNum type="arabicPeriod" startAt="1"/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Data hasil preprocessing dimasukkan ke model.</a:t>
            </a:r>
          </a:p>
          <a:p>
            <a:pPr algn="l" marL="777240" indent="-388620" lvl="1">
              <a:lnSpc>
                <a:spcPts val="4680"/>
              </a:lnSpc>
              <a:buAutoNum type="arabicPeriod" startAt="1"/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dilatih menggunakan data training.</a:t>
            </a:r>
          </a:p>
          <a:p>
            <a:pPr algn="l" marL="777240" indent="-388620" lvl="1">
              <a:lnSpc>
                <a:spcPts val="4680"/>
              </a:lnSpc>
              <a:buAutoNum type="arabicPeriod" startAt="1"/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mempelajari koefisien masing-masing fitur.</a:t>
            </a:r>
          </a:p>
          <a:p>
            <a:pPr algn="l" marL="777240" indent="-388620" lvl="1">
              <a:lnSpc>
                <a:spcPts val="4680"/>
              </a:lnSpc>
              <a:buAutoNum type="arabicPeriod" startAt="1"/>
            </a:pPr>
            <a:r>
              <a:rPr lang="en-US" sz="36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digunakan untuk memprediksi harga pada data testing.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85712" y="2230011"/>
            <a:ext cx="4600451" cy="6527433"/>
          </a:xfrm>
          <a:custGeom>
            <a:avLst/>
            <a:gdLst/>
            <a:ahLst/>
            <a:cxnLst/>
            <a:rect r="r" b="b" t="t" l="l"/>
            <a:pathLst>
              <a:path h="6527433" w="4600451">
                <a:moveTo>
                  <a:pt x="0" y="0"/>
                </a:moveTo>
                <a:lnTo>
                  <a:pt x="4600452" y="0"/>
                </a:lnTo>
                <a:lnTo>
                  <a:pt x="4600452" y="6527433"/>
                </a:lnTo>
                <a:lnTo>
                  <a:pt x="0" y="6527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19565" y="2230011"/>
            <a:ext cx="4271654" cy="6629608"/>
          </a:xfrm>
          <a:custGeom>
            <a:avLst/>
            <a:gdLst/>
            <a:ahLst/>
            <a:cxnLst/>
            <a:rect r="r" b="b" t="t" l="l"/>
            <a:pathLst>
              <a:path h="6629608" w="4271654">
                <a:moveTo>
                  <a:pt x="0" y="0"/>
                </a:moveTo>
                <a:lnTo>
                  <a:pt x="4271655" y="0"/>
                </a:lnTo>
                <a:lnTo>
                  <a:pt x="4271655" y="6629608"/>
                </a:lnTo>
                <a:lnTo>
                  <a:pt x="0" y="6629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50098" y="808878"/>
            <a:ext cx="1134363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</a:t>
            </a: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RESI LINEAR: KOEFISIEN FITUR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2463" y="2299494"/>
            <a:ext cx="6844608" cy="64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Koefisien positif menunjukkan bahwa peningkatan nilai suatu fitur cenderung meningkatkan prediksi Sa</a:t>
            </a: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lePrice, dengan asumsi fitur lainnya tetap.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oefisien negatif menunjukkan kecenderungan penurunan prediksi harga ketika nilai fitur meningkat.</a:t>
            </a: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intinya kualitas rumah dan ukuran rumah menjadi karakteristik yang paling menonjol dalam hubungan dengan harga jual berdasarkan analisis korelasi awal.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2273" y="1648032"/>
            <a:ext cx="31673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Koefisien positif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71727" y="1648032"/>
            <a:ext cx="31673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Koefisien negatif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99846" y="1983621"/>
            <a:ext cx="6192427" cy="4140285"/>
          </a:xfrm>
          <a:custGeom>
            <a:avLst/>
            <a:gdLst/>
            <a:ahLst/>
            <a:cxnLst/>
            <a:rect r="r" b="b" t="t" l="l"/>
            <a:pathLst>
              <a:path h="4140285" w="6192427">
                <a:moveTo>
                  <a:pt x="0" y="0"/>
                </a:moveTo>
                <a:lnTo>
                  <a:pt x="6192427" y="0"/>
                </a:lnTo>
                <a:lnTo>
                  <a:pt x="6192427" y="4140286"/>
                </a:lnTo>
                <a:lnTo>
                  <a:pt x="0" y="41402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16214" y="6607862"/>
            <a:ext cx="8596217" cy="1473637"/>
          </a:xfrm>
          <a:custGeom>
            <a:avLst/>
            <a:gdLst/>
            <a:ahLst/>
            <a:cxnLst/>
            <a:rect r="r" b="b" t="t" l="l"/>
            <a:pathLst>
              <a:path h="1473637" w="8596217">
                <a:moveTo>
                  <a:pt x="0" y="0"/>
                </a:moveTo>
                <a:lnTo>
                  <a:pt x="8596216" y="0"/>
                </a:lnTo>
                <a:lnTo>
                  <a:pt x="8596216" y="1473637"/>
                </a:lnTo>
                <a:lnTo>
                  <a:pt x="0" y="14736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18521" y="8538634"/>
            <a:ext cx="7281325" cy="1439332"/>
          </a:xfrm>
          <a:custGeom>
            <a:avLst/>
            <a:gdLst/>
            <a:ahLst/>
            <a:cxnLst/>
            <a:rect r="r" b="b" t="t" l="l"/>
            <a:pathLst>
              <a:path h="1439332" w="7281325">
                <a:moveTo>
                  <a:pt x="0" y="0"/>
                </a:moveTo>
                <a:lnTo>
                  <a:pt x="7281325" y="0"/>
                </a:lnTo>
                <a:lnTo>
                  <a:pt x="7281325" y="1439332"/>
                </a:lnTo>
                <a:lnTo>
                  <a:pt x="0" y="1439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78729" y="8538634"/>
            <a:ext cx="6107435" cy="1439332"/>
          </a:xfrm>
          <a:custGeom>
            <a:avLst/>
            <a:gdLst/>
            <a:ahLst/>
            <a:cxnLst/>
            <a:rect r="r" b="b" t="t" l="l"/>
            <a:pathLst>
              <a:path h="1439332" w="6107435">
                <a:moveTo>
                  <a:pt x="0" y="0"/>
                </a:moveTo>
                <a:lnTo>
                  <a:pt x="6107435" y="0"/>
                </a:lnTo>
                <a:lnTo>
                  <a:pt x="6107435" y="1439332"/>
                </a:lnTo>
                <a:lnTo>
                  <a:pt x="0" y="1439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0098" y="808878"/>
            <a:ext cx="1112292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</a:t>
            </a: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RESI LINEAR: EVALUASI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6437" y="2228331"/>
            <a:ext cx="8457563" cy="392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Metrik Evaluasi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MSE - Mean Squared Error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Mengukur rata-rata kuadrat kesalahan pr</a:t>
            </a: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ediksi. Semakin kecil nilai MSE, semakin baik model.</a:t>
            </a:r>
          </a:p>
          <a:p>
            <a:pPr algn="l" marL="0" indent="0" lvl="0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MSE - Root Mean Squared Error</a:t>
            </a:r>
          </a:p>
          <a:p>
            <a:pPr algn="l" marL="0" indent="0" lvl="0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Menunjukkan rata-rata besarnya kesalahan prediksi dalam satuan harga rumah.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R² - Coefficient of Determination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Menunjukkan proporsi variasi SalePrice yang dapat dijelaskan oleh model.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14322" y="2715003"/>
            <a:ext cx="8140664" cy="5755072"/>
          </a:xfrm>
          <a:custGeom>
            <a:avLst/>
            <a:gdLst/>
            <a:ahLst/>
            <a:cxnLst/>
            <a:rect r="r" b="b" t="t" l="l"/>
            <a:pathLst>
              <a:path h="5755072" w="8140664">
                <a:moveTo>
                  <a:pt x="0" y="0"/>
                </a:moveTo>
                <a:lnTo>
                  <a:pt x="8140664" y="0"/>
                </a:lnTo>
                <a:lnTo>
                  <a:pt x="8140664" y="5755072"/>
                </a:lnTo>
                <a:lnTo>
                  <a:pt x="0" y="5755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85215" y="935161"/>
            <a:ext cx="771756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ACTUAL VS PREDICTED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6326" y="2352769"/>
            <a:ext cx="8447674" cy="642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Analisis Visualisasi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Grafik Actual vs Predicted digunakan untuk membandingkan harga rumah sebenarnya dengan harga yang diprediksi oleh model.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Apabila titik-titik prediksi semakin mendekati garis diagonal, maka prediksi model semakin mendekati nilai aktual.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Interpretasi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diharapkan dapat mengikuti pola harga aktual, tetapi kemungkinan terdapat penyimpangan terutama pada rumah dengan harga ekstrem karena hubungan antara karakteristik rumah dan harga tidak sepenuhnya linear.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68301" y="-1843249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06974" y="2721793"/>
            <a:ext cx="8383568" cy="5875542"/>
          </a:xfrm>
          <a:custGeom>
            <a:avLst/>
            <a:gdLst/>
            <a:ahLst/>
            <a:cxnLst/>
            <a:rect r="r" b="b" t="t" l="l"/>
            <a:pathLst>
              <a:path h="5875542" w="8383568">
                <a:moveTo>
                  <a:pt x="0" y="0"/>
                </a:moveTo>
                <a:lnTo>
                  <a:pt x="8383567" y="0"/>
                </a:lnTo>
                <a:lnTo>
                  <a:pt x="8383567" y="5875542"/>
                </a:lnTo>
                <a:lnTo>
                  <a:pt x="0" y="58755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31602" y="935161"/>
            <a:ext cx="642479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5000" spc="-20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ANALISIS RESIDUAL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6326" y="2352769"/>
            <a:ext cx="8447674" cy="642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Residual = Nilai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Aktual − Nilai Prediksi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Interpretasi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Residual digunakan untuk melihat pola kesalahan prediksi model.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 y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ang baik diharapkan memiliki residual yang: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tersebar di sekitar nilai 0,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tidak membentuk pola tertentu,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dan memiliki penyebaran yang relatif acak.</a:t>
            </a: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Jika </a:t>
            </a: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residual membentuk pola tertentu, hal tersebut dapat menunjukkan bahwa model Linear Regression belum sepenuhnya menangkap hubungan kompleks pada data harga rumah.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310317" y="-8224043"/>
            <a:ext cx="11689683" cy="13672144"/>
          </a:xfrm>
          <a:custGeom>
            <a:avLst/>
            <a:gdLst/>
            <a:ahLst/>
            <a:cxnLst/>
            <a:rect r="r" b="b" t="t" l="l"/>
            <a:pathLst>
              <a:path h="13672144" w="11689683">
                <a:moveTo>
                  <a:pt x="0" y="0"/>
                </a:moveTo>
                <a:lnTo>
                  <a:pt x="11689683" y="0"/>
                </a:lnTo>
                <a:lnTo>
                  <a:pt x="11689683" y="13672143"/>
                </a:lnTo>
                <a:lnTo>
                  <a:pt x="0" y="1367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949804" y="5747647"/>
            <a:ext cx="9149633" cy="10701325"/>
          </a:xfrm>
          <a:custGeom>
            <a:avLst/>
            <a:gdLst/>
            <a:ahLst/>
            <a:cxnLst/>
            <a:rect r="r" b="b" t="t" l="l"/>
            <a:pathLst>
              <a:path h="10701325" w="9149633">
                <a:moveTo>
                  <a:pt x="0" y="0"/>
                </a:moveTo>
                <a:lnTo>
                  <a:pt x="9149634" y="0"/>
                </a:lnTo>
                <a:lnTo>
                  <a:pt x="9149634" y="10701325"/>
                </a:lnTo>
                <a:lnTo>
                  <a:pt x="0" y="10701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91329" y="942975"/>
            <a:ext cx="5146776" cy="95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6"/>
              </a:lnSpc>
            </a:pPr>
            <a:r>
              <a:rPr lang="en-US" b="true" sz="5729" spc="-22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KESIMPULAN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3734" y="2131152"/>
            <a:ext cx="16302399" cy="630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erdasarkan hasil Exploratory Data Analysis (EDA), variabel yang memiliki hubungan paling kuat dengan harga rumah adalah OverallQual, GrLivArea, GarageCars, GarageArea, dan TotalBsmtSF.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Tahap preprocessing dilakukan dengan menangani missing value, mengubah variabel kategorikal menggunakan One-Hot Encoding, menghapus Id, serta membagi data menjadi data training dan testing.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Selanjutnya, model Multiple Linear Regression digunakan untuk memprediksi SalePrice. Performa model dievaluasi menggunakan MSE, RMSE, dan R² serta dianalisis menggunakan grafik Actual vs Predicted dan residual.</a:t>
            </a:r>
          </a:p>
          <a:p>
            <a:pPr algn="just" marL="0" indent="0" lvl="0">
              <a:lnSpc>
                <a:spcPts val="416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Secara keseluruhan, hasil analisis menunjukkan bahwa kualitas, luas bangunan, serta fasilitas rumah merupakan faktor penting dalam menentukan harga jual rumah.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284327" y="0"/>
            <a:ext cx="2003673" cy="2003673"/>
          </a:xfrm>
          <a:custGeom>
            <a:avLst/>
            <a:gdLst/>
            <a:ahLst/>
            <a:cxnLst/>
            <a:rect r="r" b="b" t="t" l="l"/>
            <a:pathLst>
              <a:path h="2003673" w="2003673">
                <a:moveTo>
                  <a:pt x="0" y="0"/>
                </a:moveTo>
                <a:lnTo>
                  <a:pt x="2003673" y="0"/>
                </a:lnTo>
                <a:lnTo>
                  <a:pt x="2003673" y="2003673"/>
                </a:lnTo>
                <a:lnTo>
                  <a:pt x="0" y="200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16010982" y="8273414"/>
            <a:ext cx="2900724" cy="404089"/>
            <a:chOff x="0" y="0"/>
            <a:chExt cx="3867632" cy="538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77159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6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203874" y="-2111001"/>
            <a:ext cx="13638557" cy="14470617"/>
          </a:xfrm>
          <a:custGeom>
            <a:avLst/>
            <a:gdLst/>
            <a:ahLst/>
            <a:cxnLst/>
            <a:rect r="r" b="b" t="t" l="l"/>
            <a:pathLst>
              <a:path h="14470617" w="13638557">
                <a:moveTo>
                  <a:pt x="0" y="0"/>
                </a:moveTo>
                <a:lnTo>
                  <a:pt x="13638557" y="0"/>
                </a:lnTo>
                <a:lnTo>
                  <a:pt x="13638557" y="14470617"/>
                </a:lnTo>
                <a:lnTo>
                  <a:pt x="0" y="14470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4428" y="5789208"/>
            <a:ext cx="2201838" cy="2011930"/>
          </a:xfrm>
          <a:custGeom>
            <a:avLst/>
            <a:gdLst/>
            <a:ahLst/>
            <a:cxnLst/>
            <a:rect r="r" b="b" t="t" l="l"/>
            <a:pathLst>
              <a:path h="2011930" w="2201838">
                <a:moveTo>
                  <a:pt x="0" y="0"/>
                </a:moveTo>
                <a:lnTo>
                  <a:pt x="2201839" y="0"/>
                </a:lnTo>
                <a:lnTo>
                  <a:pt x="2201839" y="2011930"/>
                </a:lnTo>
                <a:lnTo>
                  <a:pt x="0" y="2011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6171" y="5128233"/>
            <a:ext cx="2962675" cy="2866388"/>
          </a:xfrm>
          <a:custGeom>
            <a:avLst/>
            <a:gdLst/>
            <a:ahLst/>
            <a:cxnLst/>
            <a:rect r="r" b="b" t="t" l="l"/>
            <a:pathLst>
              <a:path h="2866388" w="2962675">
                <a:moveTo>
                  <a:pt x="0" y="0"/>
                </a:moveTo>
                <a:lnTo>
                  <a:pt x="2962675" y="0"/>
                </a:lnTo>
                <a:lnTo>
                  <a:pt x="2962675" y="2866388"/>
                </a:lnTo>
                <a:lnTo>
                  <a:pt x="0" y="286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0482" y="3338855"/>
            <a:ext cx="13245341" cy="322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3"/>
              </a:lnSpc>
            </a:pPr>
            <a:r>
              <a:rPr lang="en-US" b="true" sz="10851" spc="-43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SEKIAN </a:t>
            </a:r>
          </a:p>
          <a:p>
            <a:pPr algn="ctr" marL="0" indent="0" lvl="0">
              <a:lnSpc>
                <a:spcPts val="11393"/>
              </a:lnSpc>
            </a:pPr>
            <a:r>
              <a:rPr lang="en-US" b="true" sz="10851" spc="-43">
                <a:solidFill>
                  <a:srgbClr val="E3D6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TERIMA KASIH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672745" y="7306355"/>
            <a:ext cx="494571" cy="494571"/>
          </a:xfrm>
          <a:custGeom>
            <a:avLst/>
            <a:gdLst/>
            <a:ahLst/>
            <a:cxnLst/>
            <a:rect r="r" b="b" t="t" l="l"/>
            <a:pathLst>
              <a:path h="494571" w="494571">
                <a:moveTo>
                  <a:pt x="0" y="0"/>
                </a:moveTo>
                <a:lnTo>
                  <a:pt x="494570" y="0"/>
                </a:lnTo>
                <a:lnTo>
                  <a:pt x="494570" y="494571"/>
                </a:lnTo>
                <a:lnTo>
                  <a:pt x="0" y="49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402278" y="8854211"/>
            <a:ext cx="2900724" cy="404089"/>
            <a:chOff x="0" y="0"/>
            <a:chExt cx="3867632" cy="538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77159" y="0"/>
              <a:ext cx="1890473" cy="538785"/>
            </a:xfrm>
            <a:custGeom>
              <a:avLst/>
              <a:gdLst/>
              <a:ahLst/>
              <a:cxnLst/>
              <a:rect r="r" b="b" t="t" l="l"/>
              <a:pathLst>
                <a:path h="538785" w="1890473">
                  <a:moveTo>
                    <a:pt x="0" y="0"/>
                  </a:moveTo>
                  <a:lnTo>
                    <a:pt x="1890473" y="0"/>
                  </a:lnTo>
                  <a:lnTo>
                    <a:pt x="1890473" y="538785"/>
                  </a:lnTo>
                  <a:lnTo>
                    <a:pt x="0" y="538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01483" y="278220"/>
            <a:ext cx="3625679" cy="3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sz="20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DAHXGNsxhuU</dc:identifier>
  <dcterms:modified xsi:type="dcterms:W3CDTF">2011-08-01T06:04:30Z</dcterms:modified>
  <cp:revision>1</cp:revision>
  <dc:title>Machine Learning</dc:title>
</cp:coreProperties>
</file>